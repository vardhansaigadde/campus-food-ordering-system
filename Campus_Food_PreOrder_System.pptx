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305" r:id="rId2"/>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5033" autoAdjust="0"/>
  </p:normalViewPr>
  <p:slideViewPr>
    <p:cSldViewPr>
      <p:cViewPr varScale="1">
        <p:scale>
          <a:sx n="75" d="100"/>
          <a:sy n="75" d="100"/>
        </p:scale>
        <p:origin x="1589"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8"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1048699"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06-10-2026</a:t>
            </a:fld>
            <a:endParaRPr lang="en-IN"/>
          </a:p>
        </p:txBody>
      </p:sp>
      <p:sp>
        <p:nvSpPr>
          <p:cNvPr id="1048700"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1048701"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2"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1048703"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8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104868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104868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8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68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1048582"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1048583"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4"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585"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88"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1048689" name="Holder 3"/>
          <p:cNvSpPr>
            <a:spLocks noGrp="1"/>
          </p:cNvSpPr>
          <p:nvPr>
            <p:ph sz="half" idx="2"/>
          </p:nvPr>
        </p:nvSpPr>
        <p:spPr>
          <a:xfrm>
            <a:off x="502920" y="1787652"/>
            <a:ext cx="4375404" cy="5129784"/>
          </a:xfrm>
          <a:prstGeom prst="rect">
            <a:avLst/>
          </a:prstGeom>
        </p:spPr>
        <p:txBody>
          <a:bodyPr wrap="square" lIns="0" tIns="0" rIns="0" bIns="0">
            <a:spAutoFit/>
          </a:bodyPr>
          <a:lstStyle/>
          <a:p>
            <a:endParaRPr/>
          </a:p>
        </p:txBody>
      </p:sp>
      <p:sp>
        <p:nvSpPr>
          <p:cNvPr id="1048690" name="Holder 4"/>
          <p:cNvSpPr>
            <a:spLocks noGrp="1"/>
          </p:cNvSpPr>
          <p:nvPr>
            <p:ph sz="half" idx="3"/>
          </p:nvPr>
        </p:nvSpPr>
        <p:spPr>
          <a:xfrm>
            <a:off x="5180076" y="1787652"/>
            <a:ext cx="4375404" cy="5129784"/>
          </a:xfrm>
          <a:prstGeom prst="rect">
            <a:avLst/>
          </a:prstGeom>
        </p:spPr>
        <p:txBody>
          <a:bodyPr wrap="square" lIns="0" tIns="0" rIns="0" bIns="0">
            <a:spAutoFit/>
          </a:bodyPr>
          <a:lstStyle/>
          <a:p>
            <a:endParaRPr/>
          </a:p>
        </p:txBody>
      </p:sp>
      <p:sp>
        <p:nvSpPr>
          <p:cNvPr id="1048691"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92"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693"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94"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1048695"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96"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697"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2097153" name="bg object 16"/>
          <p:cNvPicPr>
            <a:picLocks/>
          </p:cNvPicPr>
          <p:nvPr/>
        </p:nvPicPr>
        <p:blipFill>
          <a:blip r:embed="rId2" cstate="print"/>
          <a:stretch>
            <a:fillRect/>
          </a:stretch>
        </p:blipFill>
        <p:spPr>
          <a:xfrm>
            <a:off x="2648056" y="258722"/>
            <a:ext cx="4601366" cy="704793"/>
          </a:xfrm>
          <a:prstGeom prst="rect">
            <a:avLst/>
          </a:prstGeom>
        </p:spPr>
      </p:pic>
      <p:pic>
        <p:nvPicPr>
          <p:cNvPr id="2097154" name="bg object 17"/>
          <p:cNvPicPr>
            <a:picLocks/>
          </p:cNvPicPr>
          <p:nvPr/>
        </p:nvPicPr>
        <p:blipFill>
          <a:blip r:embed="rId3" cstate="print"/>
          <a:stretch>
            <a:fillRect/>
          </a:stretch>
        </p:blipFill>
        <p:spPr>
          <a:xfrm>
            <a:off x="2530316" y="125730"/>
            <a:ext cx="4997767" cy="1045130"/>
          </a:xfrm>
          <a:prstGeom prst="rect">
            <a:avLst/>
          </a:prstGeom>
        </p:spPr>
      </p:pic>
      <p:pic>
        <p:nvPicPr>
          <p:cNvPr id="2097155" name="bg object 18"/>
          <p:cNvPicPr>
            <a:picLocks/>
          </p:cNvPicPr>
          <p:nvPr/>
        </p:nvPicPr>
        <p:blipFill>
          <a:blip r:embed="rId4" cstate="print"/>
          <a:stretch>
            <a:fillRect/>
          </a:stretch>
        </p:blipFill>
        <p:spPr>
          <a:xfrm>
            <a:off x="2663904" y="251407"/>
            <a:ext cx="4577410" cy="506849"/>
          </a:xfrm>
          <a:prstGeom prst="rect">
            <a:avLst/>
          </a:prstGeom>
        </p:spPr>
      </p:pic>
      <p:sp>
        <p:nvSpPr>
          <p:cNvPr id="1048588"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97156" name="bg object 20"/>
          <p:cNvPicPr>
            <a:picLocks/>
          </p:cNvPicPr>
          <p:nvPr/>
        </p:nvPicPr>
        <p:blipFill>
          <a:blip r:embed="rId5" cstate="print"/>
          <a:stretch>
            <a:fillRect/>
          </a:stretch>
        </p:blipFill>
        <p:spPr>
          <a:xfrm>
            <a:off x="3292554" y="282840"/>
            <a:ext cx="3375117" cy="569714"/>
          </a:xfrm>
          <a:prstGeom prst="rect">
            <a:avLst/>
          </a:prstGeom>
        </p:spPr>
      </p:pic>
      <p:sp>
        <p:nvSpPr>
          <p:cNvPr id="1048589"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0"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591"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1048577"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1048578"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79"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1048580"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API &amp; Microservices Project</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548640" y="1691640"/>
            <a:ext cx="8961120" cy="731520"/>
          </a:xfrm>
          <a:prstGeom prst="rect">
            <a:avLst/>
          </a:prstGeom>
          <a:noFill/>
        </p:spPr>
        <p:txBody>
          <a:bodyPr wrap="square" anchor="t" lIns="45720" rIns="45720">
            <a:spAutoFit/>
          </a:bodyPr>
          <a:lstStyle/>
          <a:p>
            <a:pPr algn="ctr">
              <a:spcAft>
                <a:spcPts val="400"/>
              </a:spcAft>
            </a:pPr>
            <a:r>
              <a:rPr sz="4000" b="1" i="0">
                <a:solidFill>
                  <a:srgbClr val="1B3F8B"/>
                </a:solidFill>
                <a:latin typeface="Times New Roman"/>
              </a:rPr>
              <a:t>Campus Food Pre-Order System</a:t>
            </a:r>
          </a:p>
        </p:txBody>
      </p:sp>
      <p:sp>
        <p:nvSpPr>
          <p:cNvPr id="12" name="TextBox 11"/>
          <p:cNvSpPr txBox="1"/>
          <p:nvPr/>
        </p:nvSpPr>
        <p:spPr>
          <a:xfrm>
            <a:off x="914400" y="2514600"/>
            <a:ext cx="8229600" cy="822960"/>
          </a:xfrm>
          <a:prstGeom prst="rect">
            <a:avLst/>
          </a:prstGeom>
          <a:noFill/>
        </p:spPr>
        <p:txBody>
          <a:bodyPr wrap="square" anchor="t" lIns="45720" rIns="45720">
            <a:spAutoFit/>
          </a:bodyPr>
          <a:lstStyle/>
          <a:p>
            <a:pPr algn="ctr">
              <a:spcAft>
                <a:spcPts val="400"/>
              </a:spcAft>
            </a:pPr>
            <a:r>
              <a:rPr sz="1800" b="0" i="1">
                <a:solidFill>
                  <a:srgbClr val="555555"/>
                </a:solidFill>
                <a:latin typeface="Times New Roman"/>
              </a:rPr>
              <a:t>A Spring Boot microservices platform for multi-restaurant ordering with Order ID &amp; OTP pickup verification</a:t>
            </a:r>
          </a:p>
        </p:txBody>
      </p:sp>
      <p:sp>
        <p:nvSpPr>
          <p:cNvPr id="13" name="Rounded Rectangle 12"/>
          <p:cNvSpPr/>
          <p:nvPr/>
        </p:nvSpPr>
        <p:spPr>
          <a:xfrm>
            <a:off x="1371600" y="3657600"/>
            <a:ext cx="731520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45920" y="3794760"/>
            <a:ext cx="3291840" cy="365760"/>
          </a:xfrm>
          <a:prstGeom prst="rect">
            <a:avLst/>
          </a:prstGeom>
          <a:noFill/>
        </p:spPr>
        <p:txBody>
          <a:bodyPr wrap="square" anchor="t" lIns="45720" rIns="45720">
            <a:spAutoFit/>
          </a:bodyPr>
          <a:lstStyle/>
          <a:p>
            <a:pPr algn="l">
              <a:spcAft>
                <a:spcPts val="400"/>
              </a:spcAft>
            </a:pPr>
            <a:r>
              <a:rPr sz="1800" b="1" i="0">
                <a:solidFill>
                  <a:srgbClr val="FF6600"/>
                </a:solidFill>
                <a:latin typeface="Times New Roman"/>
              </a:rPr>
              <a:t>Submitted by</a:t>
            </a:r>
          </a:p>
        </p:txBody>
      </p:sp>
      <p:sp>
        <p:nvSpPr>
          <p:cNvPr id="15" name="TextBox 14"/>
          <p:cNvSpPr txBox="1"/>
          <p:nvPr/>
        </p:nvSpPr>
        <p:spPr>
          <a:xfrm>
            <a:off x="1645920" y="4206240"/>
            <a:ext cx="3383280" cy="1737360"/>
          </a:xfrm>
          <a:prstGeom prst="rect">
            <a:avLst/>
          </a:prstGeom>
          <a:noFill/>
        </p:spPr>
        <p:txBody>
          <a:bodyPr wrap="square" anchor="t" lIns="45720" rIns="45720">
            <a:spAutoFit/>
          </a:bodyPr>
          <a:lstStyle/>
          <a:p>
            <a:pPr algn="l">
              <a:spcAft>
                <a:spcPts val="600"/>
              </a:spcAft>
            </a:pPr>
            <a:r>
              <a:rPr sz="1600" b="0" i="0">
                <a:solidFill>
                  <a:srgbClr val="222222"/>
                </a:solidFill>
                <a:latin typeface="Times New Roman"/>
              </a:rPr>
              <a:t>[Student Name 1] – [Roll No.]</a:t>
            </a:r>
          </a:p>
          <a:p>
            <a:pPr algn="l">
              <a:spcAft>
                <a:spcPts val="600"/>
              </a:spcAft>
            </a:pPr>
            <a:r>
              <a:rPr sz="1600" b="0" i="0">
                <a:solidFill>
                  <a:srgbClr val="222222"/>
                </a:solidFill>
                <a:latin typeface="Times New Roman"/>
              </a:rPr>
              <a:t>[Student Name 2] – [Roll No.]</a:t>
            </a:r>
          </a:p>
          <a:p>
            <a:pPr algn="l">
              <a:spcAft>
                <a:spcPts val="600"/>
              </a:spcAft>
            </a:pPr>
            <a:r>
              <a:rPr sz="1600" b="0" i="0">
                <a:solidFill>
                  <a:srgbClr val="222222"/>
                </a:solidFill>
                <a:latin typeface="Times New Roman"/>
              </a:rPr>
              <a:t>[Student Name 3] – [Roll No.]</a:t>
            </a:r>
          </a:p>
          <a:p>
            <a:pPr algn="l">
              <a:spcAft>
                <a:spcPts val="600"/>
              </a:spcAft>
            </a:pPr>
            <a:r>
              <a:rPr sz="1600" b="0" i="0">
                <a:solidFill>
                  <a:srgbClr val="222222"/>
                </a:solidFill>
                <a:latin typeface="Times New Roman"/>
              </a:rPr>
              <a:t>[Student Name 4] – [Roll No.]</a:t>
            </a:r>
          </a:p>
        </p:txBody>
      </p:sp>
      <p:sp>
        <p:nvSpPr>
          <p:cNvPr id="16" name="TextBox 15"/>
          <p:cNvSpPr txBox="1"/>
          <p:nvPr/>
        </p:nvSpPr>
        <p:spPr>
          <a:xfrm>
            <a:off x="5212080" y="3794760"/>
            <a:ext cx="3291840" cy="365760"/>
          </a:xfrm>
          <a:prstGeom prst="rect">
            <a:avLst/>
          </a:prstGeom>
          <a:noFill/>
        </p:spPr>
        <p:txBody>
          <a:bodyPr wrap="square" anchor="t" lIns="45720" rIns="45720">
            <a:spAutoFit/>
          </a:bodyPr>
          <a:lstStyle/>
          <a:p>
            <a:pPr algn="l">
              <a:spcAft>
                <a:spcPts val="400"/>
              </a:spcAft>
            </a:pPr>
            <a:r>
              <a:rPr sz="1800" b="1" i="0">
                <a:solidFill>
                  <a:srgbClr val="FF6600"/>
                </a:solidFill>
                <a:latin typeface="Times New Roman"/>
              </a:rPr>
              <a:t>Under the guidance of</a:t>
            </a:r>
          </a:p>
        </p:txBody>
      </p:sp>
      <p:sp>
        <p:nvSpPr>
          <p:cNvPr id="17" name="TextBox 16"/>
          <p:cNvSpPr txBox="1"/>
          <p:nvPr/>
        </p:nvSpPr>
        <p:spPr>
          <a:xfrm>
            <a:off x="5212080" y="4206240"/>
            <a:ext cx="3291840" cy="1097280"/>
          </a:xfrm>
          <a:prstGeom prst="rect">
            <a:avLst/>
          </a:prstGeom>
          <a:noFill/>
        </p:spPr>
        <p:txBody>
          <a:bodyPr wrap="square" anchor="t" lIns="45720" rIns="45720">
            <a:spAutoFit/>
          </a:bodyPr>
          <a:lstStyle/>
          <a:p>
            <a:pPr algn="l">
              <a:spcAft>
                <a:spcPts val="600"/>
              </a:spcAft>
            </a:pPr>
            <a:r>
              <a:rPr sz="1600" b="0" i="0">
                <a:solidFill>
                  <a:srgbClr val="222222"/>
                </a:solidFill>
                <a:latin typeface="Times New Roman"/>
              </a:rPr>
              <a:t>[Guide Name]</a:t>
            </a:r>
          </a:p>
          <a:p>
            <a:pPr algn="l">
              <a:spcAft>
                <a:spcPts val="600"/>
              </a:spcAft>
            </a:pPr>
            <a:r>
              <a:rPr sz="1600" b="0" i="0">
                <a:solidFill>
                  <a:srgbClr val="222222"/>
                </a:solidFill>
                <a:latin typeface="Times New Roman"/>
              </a:rPr>
              <a:t>[Designation], Dept. of [Department]</a:t>
            </a:r>
          </a:p>
        </p:txBody>
      </p:sp>
      <p:sp>
        <p:nvSpPr>
          <p:cNvPr id="18" name="TextBox 17"/>
          <p:cNvSpPr txBox="1"/>
          <p:nvPr/>
        </p:nvSpPr>
        <p:spPr>
          <a:xfrm>
            <a:off x="548640" y="6400800"/>
            <a:ext cx="8961120" cy="731520"/>
          </a:xfrm>
          <a:prstGeom prst="rect">
            <a:avLst/>
          </a:prstGeom>
          <a:noFill/>
        </p:spPr>
        <p:txBody>
          <a:bodyPr wrap="square" anchor="t" lIns="45720" rIns="45720">
            <a:spAutoFit/>
          </a:bodyPr>
          <a:lstStyle/>
          <a:p>
            <a:pPr algn="ctr">
              <a:spcAft>
                <a:spcPts val="200"/>
              </a:spcAft>
            </a:pPr>
            <a:r>
              <a:rPr sz="1600" b="1" i="0">
                <a:solidFill>
                  <a:srgbClr val="1B3F8B"/>
                </a:solidFill>
                <a:latin typeface="Times New Roman"/>
              </a:rPr>
              <a:t>Department of [Department]</a:t>
            </a:r>
          </a:p>
          <a:p>
            <a:pPr algn="ctr">
              <a:spcAft>
                <a:spcPts val="200"/>
              </a:spcAft>
            </a:pPr>
            <a:r>
              <a:rPr sz="1600" b="0" i="0">
                <a:solidFill>
                  <a:srgbClr val="1B3F8B"/>
                </a:solidFill>
                <a:latin typeface="Times New Roman"/>
              </a:rPr>
              <a:t>Aditya University, Surampalem, Andhra Pradesh</a:t>
            </a:r>
          </a:p>
        </p:txBody>
      </p:sp>
    </p:spTree>
    <p:extLst>
      <p:ext uri="{BB962C8B-B14F-4D97-AF65-F5344CB8AC3E}">
        <p14:creationId xmlns:p14="http://schemas.microsoft.com/office/powerpoint/2010/main" val="4190210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Introduction</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548640" y="1554480"/>
            <a:ext cx="4937760" cy="5303520"/>
          </a:xfrm>
          <a:prstGeom prst="rect">
            <a:avLst/>
          </a:prstGeom>
          <a:noFill/>
        </p:spPr>
        <p:txBody>
          <a:bodyPr wrap="square" anchor="t" lIns="45720" rIns="45720">
            <a:spAutoFit/>
          </a:bodyPr>
          <a:lstStyle/>
          <a:p>
            <a:pPr algn="l" marL="228600" indent="-228600">
              <a:spcAft>
                <a:spcPts val="1200"/>
              </a:spcAft>
              <a:buClr>
                <a:srgbClr val="FF6600"/>
              </a:buClr>
              <a:buFont typeface="Arial"/>
              <a:buChar char="▪"/>
            </a:pPr>
            <a:r>
              <a:rPr sz="1700" b="0" i="0">
                <a:solidFill>
                  <a:srgbClr val="222222"/>
                </a:solidFill>
                <a:latin typeface="Times New Roman"/>
              </a:rPr>
              <a:t>College canteens still take orders through phone calls and write them in a notebook.</a:t>
            </a:r>
          </a:p>
          <a:p>
            <a:pPr algn="l" marL="228600" indent="-228600">
              <a:spcAft>
                <a:spcPts val="1200"/>
              </a:spcAft>
              <a:buClr>
                <a:srgbClr val="FF6600"/>
              </a:buClr>
              <a:buFont typeface="Arial"/>
              <a:buChar char="▪"/>
            </a:pPr>
            <a:r>
              <a:rPr sz="1700" b="0" i="0">
                <a:solidFill>
                  <a:srgbClr val="222222"/>
                </a:solidFill>
                <a:latin typeface="Times New Roman"/>
              </a:rPr>
              <a:t>When food is handed over, the order is struck off by hand – slow, error-prone, and with no proof of who ordered.</a:t>
            </a:r>
          </a:p>
          <a:p>
            <a:pPr algn="l" marL="228600" indent="-228600">
              <a:spcAft>
                <a:spcPts val="1200"/>
              </a:spcAft>
              <a:buClr>
                <a:srgbClr val="FF6600"/>
              </a:buClr>
              <a:buFont typeface="Arial"/>
              <a:buChar char="▪"/>
            </a:pPr>
            <a:r>
              <a:rPr sz="1700" b="0" i="0">
                <a:solidFill>
                  <a:srgbClr val="222222"/>
                </a:solidFill>
                <a:latin typeface="Times New Roman"/>
              </a:rPr>
              <a:t>Every canteen on campus faces the same problem.</a:t>
            </a:r>
          </a:p>
          <a:p>
            <a:pPr algn="l" marL="228600" indent="-228600">
              <a:spcAft>
                <a:spcPts val="1200"/>
              </a:spcAft>
              <a:buClr>
                <a:srgbClr val="FF6600"/>
              </a:buClr>
              <a:buFont typeface="Arial"/>
              <a:buChar char="▪"/>
            </a:pPr>
            <a:r>
              <a:rPr sz="1700" b="0" i="0">
                <a:solidFill>
                  <a:srgbClr val="222222"/>
                </a:solidFill>
                <a:latin typeface="Times New Roman"/>
              </a:rPr>
              <a:t>Our project brings all campus restaurants onto one website: students order online, restaurants manage today's menu, and food is collected at the counter using a unique Order ID and OTP.</a:t>
            </a:r>
          </a:p>
          <a:p>
            <a:pPr algn="l" marL="228600" indent="-228600">
              <a:spcAft>
                <a:spcPts val="1200"/>
              </a:spcAft>
              <a:buClr>
                <a:srgbClr val="FF6600"/>
              </a:buClr>
              <a:buFont typeface="Arial"/>
              <a:buChar char="▪"/>
            </a:pPr>
            <a:r>
              <a:rPr sz="1700" b="0" i="0">
                <a:solidFill>
                  <a:srgbClr val="222222"/>
                </a:solidFill>
                <a:latin typeface="Times New Roman"/>
              </a:rPr>
              <a:t>The backend is built as Spring Boot microservices that communicate through REST APIs, with a React + Tailwind frontend.</a:t>
            </a:r>
          </a:p>
        </p:txBody>
      </p:sp>
      <p:sp>
        <p:nvSpPr>
          <p:cNvPr id="12" name="Rounded Rectangle 11"/>
          <p:cNvSpPr/>
          <p:nvPr/>
        </p:nvSpPr>
        <p:spPr>
          <a:xfrm>
            <a:off x="5852160" y="1600200"/>
            <a:ext cx="3657600" cy="242316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35040" y="1709928"/>
            <a:ext cx="3291840" cy="365760"/>
          </a:xfrm>
          <a:prstGeom prst="rect">
            <a:avLst/>
          </a:prstGeom>
          <a:noFill/>
        </p:spPr>
        <p:txBody>
          <a:bodyPr wrap="square" anchor="t" lIns="45720" rIns="45720">
            <a:spAutoFit/>
          </a:bodyPr>
          <a:lstStyle/>
          <a:p>
            <a:pPr algn="l">
              <a:spcAft>
                <a:spcPts val="400"/>
              </a:spcAft>
            </a:pPr>
            <a:r>
              <a:rPr sz="1800" b="1" i="0">
                <a:solidFill>
                  <a:srgbClr val="1B3F8B"/>
                </a:solidFill>
                <a:latin typeface="Times New Roman"/>
              </a:rPr>
              <a:t>Today</a:t>
            </a:r>
          </a:p>
        </p:txBody>
      </p:sp>
      <p:sp>
        <p:nvSpPr>
          <p:cNvPr id="14" name="Oval 13"/>
          <p:cNvSpPr/>
          <p:nvPr/>
        </p:nvSpPr>
        <p:spPr>
          <a:xfrm>
            <a:off x="6080760" y="2194560"/>
            <a:ext cx="384048" cy="384048"/>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1</a:t>
            </a:r>
          </a:p>
        </p:txBody>
      </p:sp>
      <p:sp>
        <p:nvSpPr>
          <p:cNvPr id="15" name="TextBox 14"/>
          <p:cNvSpPr txBox="1"/>
          <p:nvPr/>
        </p:nvSpPr>
        <p:spPr>
          <a:xfrm>
            <a:off x="6583680" y="2176272"/>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Phone call</a:t>
            </a:r>
          </a:p>
        </p:txBody>
      </p:sp>
      <p:sp>
        <p:nvSpPr>
          <p:cNvPr id="16" name="Oval 15"/>
          <p:cNvSpPr/>
          <p:nvPr/>
        </p:nvSpPr>
        <p:spPr>
          <a:xfrm>
            <a:off x="6080760" y="2761488"/>
            <a:ext cx="384048" cy="384048"/>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2</a:t>
            </a:r>
          </a:p>
        </p:txBody>
      </p:sp>
      <p:sp>
        <p:nvSpPr>
          <p:cNvPr id="17" name="TextBox 16"/>
          <p:cNvSpPr txBox="1"/>
          <p:nvPr/>
        </p:nvSpPr>
        <p:spPr>
          <a:xfrm>
            <a:off x="6583680" y="2743200"/>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Write in notebook</a:t>
            </a:r>
          </a:p>
        </p:txBody>
      </p:sp>
      <p:sp>
        <p:nvSpPr>
          <p:cNvPr id="18" name="Oval 17"/>
          <p:cNvSpPr/>
          <p:nvPr/>
        </p:nvSpPr>
        <p:spPr>
          <a:xfrm>
            <a:off x="6080760" y="3328415"/>
            <a:ext cx="384048" cy="384048"/>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3</a:t>
            </a:r>
          </a:p>
        </p:txBody>
      </p:sp>
      <p:sp>
        <p:nvSpPr>
          <p:cNvPr id="19" name="TextBox 18"/>
          <p:cNvSpPr txBox="1"/>
          <p:nvPr/>
        </p:nvSpPr>
        <p:spPr>
          <a:xfrm>
            <a:off x="6583680" y="3310127"/>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Strike off by hand</a:t>
            </a:r>
          </a:p>
        </p:txBody>
      </p:sp>
      <p:sp>
        <p:nvSpPr>
          <p:cNvPr id="20" name="Rounded Rectangle 19"/>
          <p:cNvSpPr/>
          <p:nvPr/>
        </p:nvSpPr>
        <p:spPr>
          <a:xfrm>
            <a:off x="5852160" y="4297680"/>
            <a:ext cx="3657600" cy="242316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35040" y="4407408"/>
            <a:ext cx="3291840" cy="365760"/>
          </a:xfrm>
          <a:prstGeom prst="rect">
            <a:avLst/>
          </a:prstGeom>
          <a:noFill/>
        </p:spPr>
        <p:txBody>
          <a:bodyPr wrap="square" anchor="t" lIns="45720" rIns="45720">
            <a:spAutoFit/>
          </a:bodyPr>
          <a:lstStyle/>
          <a:p>
            <a:pPr algn="l">
              <a:spcAft>
                <a:spcPts val="400"/>
              </a:spcAft>
            </a:pPr>
            <a:r>
              <a:rPr sz="1800" b="1" i="0">
                <a:solidFill>
                  <a:srgbClr val="FF6600"/>
                </a:solidFill>
                <a:latin typeface="Times New Roman"/>
              </a:rPr>
              <a:t>With our system</a:t>
            </a:r>
          </a:p>
        </p:txBody>
      </p:sp>
      <p:sp>
        <p:nvSpPr>
          <p:cNvPr id="22" name="Oval 21"/>
          <p:cNvSpPr/>
          <p:nvPr/>
        </p:nvSpPr>
        <p:spPr>
          <a:xfrm>
            <a:off x="6080760" y="4892040"/>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1</a:t>
            </a:r>
          </a:p>
        </p:txBody>
      </p:sp>
      <p:sp>
        <p:nvSpPr>
          <p:cNvPr id="23" name="TextBox 22"/>
          <p:cNvSpPr txBox="1"/>
          <p:nvPr/>
        </p:nvSpPr>
        <p:spPr>
          <a:xfrm>
            <a:off x="6583680" y="4873752"/>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Order on website</a:t>
            </a:r>
          </a:p>
        </p:txBody>
      </p:sp>
      <p:sp>
        <p:nvSpPr>
          <p:cNvPr id="24" name="Oval 23"/>
          <p:cNvSpPr/>
          <p:nvPr/>
        </p:nvSpPr>
        <p:spPr>
          <a:xfrm>
            <a:off x="6080760" y="5458968"/>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2</a:t>
            </a:r>
          </a:p>
        </p:txBody>
      </p:sp>
      <p:sp>
        <p:nvSpPr>
          <p:cNvPr id="25" name="TextBox 24"/>
          <p:cNvSpPr txBox="1"/>
          <p:nvPr/>
        </p:nvSpPr>
        <p:spPr>
          <a:xfrm>
            <a:off x="6583680" y="5440680"/>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Get Order ID + OTP</a:t>
            </a:r>
          </a:p>
        </p:txBody>
      </p:sp>
      <p:sp>
        <p:nvSpPr>
          <p:cNvPr id="26" name="Oval 25"/>
          <p:cNvSpPr/>
          <p:nvPr/>
        </p:nvSpPr>
        <p:spPr>
          <a:xfrm>
            <a:off x="6080760" y="6025896"/>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Times New Roman"/>
              </a:rPr>
              <a:t>3</a:t>
            </a:r>
          </a:p>
        </p:txBody>
      </p:sp>
      <p:sp>
        <p:nvSpPr>
          <p:cNvPr id="27" name="TextBox 26"/>
          <p:cNvSpPr txBox="1"/>
          <p:nvPr/>
        </p:nvSpPr>
        <p:spPr>
          <a:xfrm>
            <a:off x="6583680" y="6007608"/>
            <a:ext cx="2834640" cy="420624"/>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Verify &amp; collect</a:t>
            </a:r>
          </a:p>
        </p:txBody>
      </p:sp>
    </p:spTree>
    <p:extLst>
      <p:ext uri="{BB962C8B-B14F-4D97-AF65-F5344CB8AC3E}">
        <p14:creationId xmlns:p14="http://schemas.microsoft.com/office/powerpoint/2010/main" val="4190210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08760"/>
            <a:ext cx="8961120" cy="4343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1691640"/>
            <a:ext cx="8412480" cy="4297680"/>
          </a:xfrm>
          <a:prstGeom prst="rect">
            <a:avLst/>
          </a:prstGeom>
          <a:noFill/>
        </p:spPr>
        <p:txBody>
          <a:bodyPr wrap="square" anchor="t" lIns="45720" rIns="45720">
            <a:spAutoFit/>
          </a:bodyPr>
          <a:lstStyle/>
          <a:p>
            <a:pPr algn="just">
              <a:spcAft>
                <a:spcPts val="1200"/>
              </a:spcAft>
            </a:pPr>
            <a:r>
              <a:rPr sz="1700" b="0" i="0">
                <a:solidFill>
                  <a:srgbClr val="222222"/>
                </a:solidFill>
                <a:latin typeface="Times New Roman"/>
              </a:rPr>
              <a:t>Most college canteens take orders over the phone and record them in a notebook, striking each one off after the food is handed over. This manual process leads to lost orders, long waiting times and disputes at the counter, and the same problem exists in every canteen on campus.</a:t>
            </a:r>
          </a:p>
          <a:p>
            <a:pPr algn="just">
              <a:spcAft>
                <a:spcPts val="1200"/>
              </a:spcAft>
            </a:pPr>
            <a:r>
              <a:rPr sz="1700" b="0" i="0">
                <a:solidFill>
                  <a:srgbClr val="222222"/>
                </a:solidFill>
                <a:latin typeface="Times New Roman"/>
              </a:rPr>
              <a:t>This project presents the Campus Food Pre-Order System, a web application built on a microservices architecture using Spring Boot and REST APIs. Students choose from multiple campus restaurants, see only the dishes available that day, and place pickup orders. Every order generates a unique Order ID and a one-time password (OTP) shown only to that student. Restaurant staff verify the Order ID and OTP at the counter before handing over the food.</a:t>
            </a:r>
          </a:p>
          <a:p>
            <a:pPr algn="just">
              <a:spcAft>
                <a:spcPts val="1200"/>
              </a:spcAft>
            </a:pPr>
            <a:r>
              <a:rPr sz="1700" b="0" i="0">
                <a:solidFill>
                  <a:srgbClr val="222222"/>
                </a:solidFill>
                <a:latin typeface="Times New Roman"/>
              </a:rPr>
              <a:t>Each restaurant manages only its own menu and orders, while a hidden administrator manages all restaurants, users and orders. The system replaces the notebook with a fast, secure and traceable digital workflow.</a:t>
            </a:r>
          </a:p>
        </p:txBody>
      </p:sp>
      <p:sp>
        <p:nvSpPr>
          <p:cNvPr id="13" name="TextBox 12"/>
          <p:cNvSpPr txBox="1"/>
          <p:nvPr/>
        </p:nvSpPr>
        <p:spPr>
          <a:xfrm>
            <a:off x="548640" y="6355080"/>
            <a:ext cx="1280160" cy="365760"/>
          </a:xfrm>
          <a:prstGeom prst="rect">
            <a:avLst/>
          </a:prstGeom>
          <a:noFill/>
        </p:spPr>
        <p:txBody>
          <a:bodyPr wrap="square" anchor="ctr" lIns="45720" rIns="45720">
            <a:spAutoFit/>
          </a:bodyPr>
          <a:lstStyle/>
          <a:p>
            <a:pPr algn="l">
              <a:spcAft>
                <a:spcPts val="400"/>
              </a:spcAft>
            </a:pPr>
            <a:r>
              <a:rPr sz="1600" b="1" i="0">
                <a:solidFill>
                  <a:srgbClr val="1B3F8B"/>
                </a:solidFill>
                <a:latin typeface="Times New Roman"/>
              </a:rPr>
              <a:t>Keywords:</a:t>
            </a:r>
          </a:p>
        </p:txBody>
      </p:sp>
      <p:sp>
        <p:nvSpPr>
          <p:cNvPr id="14" name="Rounded Rectangle 13"/>
          <p:cNvSpPr/>
          <p:nvPr/>
        </p:nvSpPr>
        <p:spPr>
          <a:xfrm>
            <a:off x="1783080" y="6373368"/>
            <a:ext cx="132588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Microservices</a:t>
            </a:r>
          </a:p>
        </p:txBody>
      </p:sp>
      <p:sp>
        <p:nvSpPr>
          <p:cNvPr id="15" name="Rounded Rectangle 14"/>
          <p:cNvSpPr/>
          <p:nvPr/>
        </p:nvSpPr>
        <p:spPr>
          <a:xfrm>
            <a:off x="3218687" y="6373368"/>
            <a:ext cx="118872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Spring Boot</a:t>
            </a:r>
          </a:p>
        </p:txBody>
      </p:sp>
      <p:sp>
        <p:nvSpPr>
          <p:cNvPr id="16" name="Rounded Rectangle 15"/>
          <p:cNvSpPr/>
          <p:nvPr/>
        </p:nvSpPr>
        <p:spPr>
          <a:xfrm>
            <a:off x="4517136" y="6373368"/>
            <a:ext cx="100584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REST API</a:t>
            </a:r>
          </a:p>
        </p:txBody>
      </p:sp>
      <p:sp>
        <p:nvSpPr>
          <p:cNvPr id="17" name="Rounded Rectangle 16"/>
          <p:cNvSpPr/>
          <p:nvPr/>
        </p:nvSpPr>
        <p:spPr>
          <a:xfrm>
            <a:off x="5632704" y="6373368"/>
            <a:ext cx="123444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API Gateway</a:t>
            </a:r>
          </a:p>
        </p:txBody>
      </p:sp>
      <p:sp>
        <p:nvSpPr>
          <p:cNvPr id="18" name="Rounded Rectangle 17"/>
          <p:cNvSpPr/>
          <p:nvPr/>
        </p:nvSpPr>
        <p:spPr>
          <a:xfrm>
            <a:off x="6976872" y="6373368"/>
            <a:ext cx="82296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Eureka</a:t>
            </a:r>
          </a:p>
        </p:txBody>
      </p:sp>
      <p:sp>
        <p:nvSpPr>
          <p:cNvPr id="19" name="Rounded Rectangle 18"/>
          <p:cNvSpPr/>
          <p:nvPr/>
        </p:nvSpPr>
        <p:spPr>
          <a:xfrm>
            <a:off x="7909560" y="6373368"/>
            <a:ext cx="64008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JWT</a:t>
            </a:r>
          </a:p>
        </p:txBody>
      </p:sp>
      <p:sp>
        <p:nvSpPr>
          <p:cNvPr id="20" name="Rounded Rectangle 19"/>
          <p:cNvSpPr/>
          <p:nvPr/>
        </p:nvSpPr>
        <p:spPr>
          <a:xfrm>
            <a:off x="8659368" y="6373368"/>
            <a:ext cx="640080" cy="347472"/>
          </a:xfrm>
          <a:prstGeom prst="roundRect">
            <a:avLst>
              <a:gd name="adj" fmla="val 50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300" b="1" i="0">
                <a:solidFill>
                  <a:srgbClr val="FFFFFF"/>
                </a:solidFill>
                <a:latin typeface="Times New Roman"/>
              </a:rPr>
              <a:t>OTP</a:t>
            </a:r>
          </a:p>
        </p:txBody>
      </p:sp>
    </p:spTree>
    <p:extLst>
      <p:ext uri="{BB962C8B-B14F-4D97-AF65-F5344CB8AC3E}">
        <p14:creationId xmlns:p14="http://schemas.microsoft.com/office/powerpoint/2010/main" val="4190210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Problem Statement</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548640" y="1463040"/>
            <a:ext cx="8961120" cy="731520"/>
          </a:xfrm>
          <a:prstGeom prst="rect">
            <a:avLst/>
          </a:prstGeom>
          <a:noFill/>
        </p:spPr>
        <p:txBody>
          <a:bodyPr wrap="square" anchor="t" lIns="45720" rIns="45720">
            <a:spAutoFit/>
          </a:bodyPr>
          <a:lstStyle/>
          <a:p>
            <a:pPr algn="l">
              <a:spcAft>
                <a:spcPts val="400"/>
              </a:spcAft>
            </a:pPr>
            <a:r>
              <a:rPr sz="1700" b="0" i="0">
                <a:solidFill>
                  <a:srgbClr val="222222"/>
                </a:solidFill>
                <a:latin typeface="Times New Roman"/>
              </a:rPr>
              <a:t>Campus canteens manage orders manually through phone calls and a notebook, which causes the following problems:</a:t>
            </a:r>
          </a:p>
        </p:txBody>
      </p:sp>
      <p:sp>
        <p:nvSpPr>
          <p:cNvPr id="12" name="Rounded Rectangle 11"/>
          <p:cNvSpPr/>
          <p:nvPr/>
        </p:nvSpPr>
        <p:spPr>
          <a:xfrm>
            <a:off x="548640" y="224028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4231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1</a:t>
            </a:r>
          </a:p>
        </p:txBody>
      </p:sp>
      <p:sp>
        <p:nvSpPr>
          <p:cNvPr id="14" name="TextBox 13"/>
          <p:cNvSpPr txBox="1"/>
          <p:nvPr/>
        </p:nvSpPr>
        <p:spPr>
          <a:xfrm>
            <a:off x="731520" y="299008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Phone-based ordering</a:t>
            </a:r>
          </a:p>
        </p:txBody>
      </p:sp>
      <p:sp>
        <p:nvSpPr>
          <p:cNvPr id="15" name="TextBox 14"/>
          <p:cNvSpPr txBox="1"/>
          <p:nvPr/>
        </p:nvSpPr>
        <p:spPr>
          <a:xfrm>
            <a:off x="731520" y="338328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Lines are busy at peak hours, so calls and orders are missed.</a:t>
            </a:r>
          </a:p>
        </p:txBody>
      </p:sp>
      <p:sp>
        <p:nvSpPr>
          <p:cNvPr id="16" name="Rounded Rectangle 15"/>
          <p:cNvSpPr/>
          <p:nvPr/>
        </p:nvSpPr>
        <p:spPr>
          <a:xfrm>
            <a:off x="3593592" y="224028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776472" y="24231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2</a:t>
            </a:r>
          </a:p>
        </p:txBody>
      </p:sp>
      <p:sp>
        <p:nvSpPr>
          <p:cNvPr id="18" name="TextBox 17"/>
          <p:cNvSpPr txBox="1"/>
          <p:nvPr/>
        </p:nvSpPr>
        <p:spPr>
          <a:xfrm>
            <a:off x="3776472" y="299008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Handwritten records</a:t>
            </a:r>
          </a:p>
        </p:txBody>
      </p:sp>
      <p:sp>
        <p:nvSpPr>
          <p:cNvPr id="19" name="TextBox 18"/>
          <p:cNvSpPr txBox="1"/>
          <p:nvPr/>
        </p:nvSpPr>
        <p:spPr>
          <a:xfrm>
            <a:off x="3776472" y="338328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Notebook entries are hard to read, easy to mix up and easy to lose.</a:t>
            </a:r>
          </a:p>
        </p:txBody>
      </p:sp>
      <p:sp>
        <p:nvSpPr>
          <p:cNvPr id="20" name="Rounded Rectangle 19"/>
          <p:cNvSpPr/>
          <p:nvPr/>
        </p:nvSpPr>
        <p:spPr>
          <a:xfrm>
            <a:off x="6638544" y="224028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821424" y="24231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3</a:t>
            </a:r>
          </a:p>
        </p:txBody>
      </p:sp>
      <p:sp>
        <p:nvSpPr>
          <p:cNvPr id="22" name="TextBox 21"/>
          <p:cNvSpPr txBox="1"/>
          <p:nvPr/>
        </p:nvSpPr>
        <p:spPr>
          <a:xfrm>
            <a:off x="6821424" y="299008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No order verification</a:t>
            </a:r>
          </a:p>
        </p:txBody>
      </p:sp>
      <p:sp>
        <p:nvSpPr>
          <p:cNvPr id="23" name="TextBox 22"/>
          <p:cNvSpPr txBox="1"/>
          <p:nvPr/>
        </p:nvSpPr>
        <p:spPr>
          <a:xfrm>
            <a:off x="6821424" y="338328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Anyone can claim an order – there is no proof of who ordered.</a:t>
            </a:r>
          </a:p>
        </p:txBody>
      </p:sp>
      <p:sp>
        <p:nvSpPr>
          <p:cNvPr id="24" name="Rounded Rectangle 23"/>
          <p:cNvSpPr/>
          <p:nvPr/>
        </p:nvSpPr>
        <p:spPr>
          <a:xfrm>
            <a:off x="548640" y="461772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31520" y="480060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4</a:t>
            </a:r>
          </a:p>
        </p:txBody>
      </p:sp>
      <p:sp>
        <p:nvSpPr>
          <p:cNvPr id="26" name="TextBox 25"/>
          <p:cNvSpPr txBox="1"/>
          <p:nvPr/>
        </p:nvSpPr>
        <p:spPr>
          <a:xfrm>
            <a:off x="731520" y="536752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Unknown availability</a:t>
            </a:r>
          </a:p>
        </p:txBody>
      </p:sp>
      <p:sp>
        <p:nvSpPr>
          <p:cNvPr id="27" name="TextBox 26"/>
          <p:cNvSpPr txBox="1"/>
          <p:nvPr/>
        </p:nvSpPr>
        <p:spPr>
          <a:xfrm>
            <a:off x="731520" y="576072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Students don't know which dishes are available today.</a:t>
            </a:r>
          </a:p>
        </p:txBody>
      </p:sp>
      <p:sp>
        <p:nvSpPr>
          <p:cNvPr id="28" name="Rounded Rectangle 27"/>
          <p:cNvSpPr/>
          <p:nvPr/>
        </p:nvSpPr>
        <p:spPr>
          <a:xfrm>
            <a:off x="3593592" y="461772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3776472" y="480060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5</a:t>
            </a:r>
          </a:p>
        </p:txBody>
      </p:sp>
      <p:sp>
        <p:nvSpPr>
          <p:cNvPr id="30" name="TextBox 29"/>
          <p:cNvSpPr txBox="1"/>
          <p:nvPr/>
        </p:nvSpPr>
        <p:spPr>
          <a:xfrm>
            <a:off x="3776472" y="536752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No records or reports</a:t>
            </a:r>
          </a:p>
        </p:txBody>
      </p:sp>
      <p:sp>
        <p:nvSpPr>
          <p:cNvPr id="31" name="TextBox 30"/>
          <p:cNvSpPr txBox="1"/>
          <p:nvPr/>
        </p:nvSpPr>
        <p:spPr>
          <a:xfrm>
            <a:off x="3776472" y="576072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No data on daily orders, sales or popular dishes.</a:t>
            </a:r>
          </a:p>
        </p:txBody>
      </p:sp>
      <p:sp>
        <p:nvSpPr>
          <p:cNvPr id="32" name="Rounded Rectangle 31"/>
          <p:cNvSpPr/>
          <p:nvPr/>
        </p:nvSpPr>
        <p:spPr>
          <a:xfrm>
            <a:off x="6638544" y="4617720"/>
            <a:ext cx="2834640" cy="21488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821424" y="480060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6</a:t>
            </a:r>
          </a:p>
        </p:txBody>
      </p:sp>
      <p:sp>
        <p:nvSpPr>
          <p:cNvPr id="34" name="TextBox 33"/>
          <p:cNvSpPr txBox="1"/>
          <p:nvPr/>
        </p:nvSpPr>
        <p:spPr>
          <a:xfrm>
            <a:off x="6821424" y="5367528"/>
            <a:ext cx="2514600" cy="411480"/>
          </a:xfrm>
          <a:prstGeom prst="rect">
            <a:avLst/>
          </a:prstGeom>
          <a:noFill/>
        </p:spPr>
        <p:txBody>
          <a:bodyPr wrap="square" anchor="t" lIns="45720" rIns="45720">
            <a:spAutoFit/>
          </a:bodyPr>
          <a:lstStyle/>
          <a:p>
            <a:pPr algn="l">
              <a:spcAft>
                <a:spcPts val="400"/>
              </a:spcAft>
            </a:pPr>
            <a:r>
              <a:rPr sz="1700" b="1" i="0">
                <a:solidFill>
                  <a:srgbClr val="1B3F8B"/>
                </a:solidFill>
                <a:latin typeface="Times New Roman"/>
              </a:rPr>
              <a:t>Common to all canteens</a:t>
            </a:r>
          </a:p>
        </p:txBody>
      </p:sp>
      <p:sp>
        <p:nvSpPr>
          <p:cNvPr id="35" name="TextBox 34"/>
          <p:cNvSpPr txBox="1"/>
          <p:nvPr/>
        </p:nvSpPr>
        <p:spPr>
          <a:xfrm>
            <a:off x="6821424" y="5760720"/>
            <a:ext cx="251460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Every canteen on campus faces the very same problem.</a:t>
            </a:r>
          </a:p>
        </p:txBody>
      </p:sp>
    </p:spTree>
    <p:extLst>
      <p:ext uri="{BB962C8B-B14F-4D97-AF65-F5344CB8AC3E}">
        <p14:creationId xmlns:p14="http://schemas.microsoft.com/office/powerpoint/2010/main" val="419021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Existing vs Proposed System</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08760"/>
            <a:ext cx="4389120" cy="548640"/>
          </a:xfrm>
          <a:prstGeom prst="roundRect">
            <a:avLst>
              <a:gd name="adj" fmla="val 8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000" b="1" i="0">
                <a:solidFill>
                  <a:srgbClr val="FFFFFF"/>
                </a:solidFill>
                <a:latin typeface="Times New Roman"/>
              </a:rPr>
              <a:t>Existing System</a:t>
            </a:r>
          </a:p>
        </p:txBody>
      </p:sp>
      <p:sp>
        <p:nvSpPr>
          <p:cNvPr id="12" name="Rounded Rectangle 11"/>
          <p:cNvSpPr/>
          <p:nvPr/>
        </p:nvSpPr>
        <p:spPr>
          <a:xfrm>
            <a:off x="548640" y="2148840"/>
            <a:ext cx="4389120" cy="493776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2331720"/>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14" name="TextBox 13"/>
          <p:cNvSpPr txBox="1"/>
          <p:nvPr/>
        </p:nvSpPr>
        <p:spPr>
          <a:xfrm>
            <a:off x="1143000" y="233172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Orders taken by phone call</a:t>
            </a:r>
          </a:p>
        </p:txBody>
      </p:sp>
      <p:sp>
        <p:nvSpPr>
          <p:cNvPr id="15" name="TextBox 14"/>
          <p:cNvSpPr txBox="1"/>
          <p:nvPr/>
        </p:nvSpPr>
        <p:spPr>
          <a:xfrm>
            <a:off x="731520" y="3108960"/>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16" name="TextBox 15"/>
          <p:cNvSpPr txBox="1"/>
          <p:nvPr/>
        </p:nvSpPr>
        <p:spPr>
          <a:xfrm>
            <a:off x="1143000" y="310896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Written in a notebook</a:t>
            </a:r>
          </a:p>
        </p:txBody>
      </p:sp>
      <p:sp>
        <p:nvSpPr>
          <p:cNvPr id="17" name="TextBox 16"/>
          <p:cNvSpPr txBox="1"/>
          <p:nvPr/>
        </p:nvSpPr>
        <p:spPr>
          <a:xfrm>
            <a:off x="731520" y="3886200"/>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18" name="TextBox 17"/>
          <p:cNvSpPr txBox="1"/>
          <p:nvPr/>
        </p:nvSpPr>
        <p:spPr>
          <a:xfrm>
            <a:off x="1143000" y="388620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Struck off by hand</a:t>
            </a:r>
          </a:p>
        </p:txBody>
      </p:sp>
      <p:sp>
        <p:nvSpPr>
          <p:cNvPr id="19" name="TextBox 18"/>
          <p:cNvSpPr txBox="1"/>
          <p:nvPr/>
        </p:nvSpPr>
        <p:spPr>
          <a:xfrm>
            <a:off x="731520" y="4663440"/>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20" name="TextBox 19"/>
          <p:cNvSpPr txBox="1"/>
          <p:nvPr/>
        </p:nvSpPr>
        <p:spPr>
          <a:xfrm>
            <a:off x="1143000" y="466344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No verification of the customer</a:t>
            </a:r>
          </a:p>
        </p:txBody>
      </p:sp>
      <p:sp>
        <p:nvSpPr>
          <p:cNvPr id="21" name="TextBox 20"/>
          <p:cNvSpPr txBox="1"/>
          <p:nvPr/>
        </p:nvSpPr>
        <p:spPr>
          <a:xfrm>
            <a:off x="731520" y="5440679"/>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22" name="TextBox 21"/>
          <p:cNvSpPr txBox="1"/>
          <p:nvPr/>
        </p:nvSpPr>
        <p:spPr>
          <a:xfrm>
            <a:off x="1143000" y="5440679"/>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Menu availability unknown</a:t>
            </a:r>
          </a:p>
        </p:txBody>
      </p:sp>
      <p:sp>
        <p:nvSpPr>
          <p:cNvPr id="23" name="TextBox 22"/>
          <p:cNvSpPr txBox="1"/>
          <p:nvPr/>
        </p:nvSpPr>
        <p:spPr>
          <a:xfrm>
            <a:off x="731520" y="6217920"/>
            <a:ext cx="365760" cy="548640"/>
          </a:xfrm>
          <a:prstGeom prst="rect">
            <a:avLst/>
          </a:prstGeom>
          <a:noFill/>
        </p:spPr>
        <p:txBody>
          <a:bodyPr wrap="square" anchor="ctr" lIns="45720" rIns="45720">
            <a:spAutoFit/>
          </a:bodyPr>
          <a:lstStyle/>
          <a:p>
            <a:pPr algn="l">
              <a:spcAft>
                <a:spcPts val="400"/>
              </a:spcAft>
            </a:pPr>
            <a:r>
              <a:rPr sz="2200" b="1" i="0">
                <a:solidFill>
                  <a:srgbClr val="C62828"/>
                </a:solidFill>
                <a:latin typeface="Times New Roman"/>
              </a:rPr>
              <a:t>✗</a:t>
            </a:r>
          </a:p>
        </p:txBody>
      </p:sp>
      <p:sp>
        <p:nvSpPr>
          <p:cNvPr id="24" name="TextBox 23"/>
          <p:cNvSpPr txBox="1"/>
          <p:nvPr/>
        </p:nvSpPr>
        <p:spPr>
          <a:xfrm>
            <a:off x="1143000" y="621792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No records or reports</a:t>
            </a:r>
          </a:p>
        </p:txBody>
      </p:sp>
      <p:sp>
        <p:nvSpPr>
          <p:cNvPr id="25" name="Rounded Rectangle 24"/>
          <p:cNvSpPr/>
          <p:nvPr/>
        </p:nvSpPr>
        <p:spPr>
          <a:xfrm>
            <a:off x="5120640" y="1508760"/>
            <a:ext cx="4389120" cy="548640"/>
          </a:xfrm>
          <a:prstGeom prst="roundRect">
            <a:avLst>
              <a:gd name="adj" fmla="val 8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2000" b="1" i="0">
                <a:solidFill>
                  <a:srgbClr val="FFFFFF"/>
                </a:solidFill>
                <a:latin typeface="Times New Roman"/>
              </a:rPr>
              <a:t>Proposed System</a:t>
            </a:r>
          </a:p>
        </p:txBody>
      </p:sp>
      <p:sp>
        <p:nvSpPr>
          <p:cNvPr id="26" name="Rounded Rectangle 25"/>
          <p:cNvSpPr/>
          <p:nvPr/>
        </p:nvSpPr>
        <p:spPr>
          <a:xfrm>
            <a:off x="5120640" y="2148840"/>
            <a:ext cx="4389120" cy="493776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303520" y="2331720"/>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28" name="TextBox 27"/>
          <p:cNvSpPr txBox="1"/>
          <p:nvPr/>
        </p:nvSpPr>
        <p:spPr>
          <a:xfrm>
            <a:off x="5715000" y="233172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Orders placed on a website</a:t>
            </a:r>
          </a:p>
        </p:txBody>
      </p:sp>
      <p:sp>
        <p:nvSpPr>
          <p:cNvPr id="29" name="TextBox 28"/>
          <p:cNvSpPr txBox="1"/>
          <p:nvPr/>
        </p:nvSpPr>
        <p:spPr>
          <a:xfrm>
            <a:off x="5303520" y="3108960"/>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30" name="TextBox 29"/>
          <p:cNvSpPr txBox="1"/>
          <p:nvPr/>
        </p:nvSpPr>
        <p:spPr>
          <a:xfrm>
            <a:off x="5715000" y="310896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Stored safely in a database</a:t>
            </a:r>
          </a:p>
        </p:txBody>
      </p:sp>
      <p:sp>
        <p:nvSpPr>
          <p:cNvPr id="31" name="TextBox 30"/>
          <p:cNvSpPr txBox="1"/>
          <p:nvPr/>
        </p:nvSpPr>
        <p:spPr>
          <a:xfrm>
            <a:off x="5303520" y="3886200"/>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32" name="TextBox 31"/>
          <p:cNvSpPr txBox="1"/>
          <p:nvPr/>
        </p:nvSpPr>
        <p:spPr>
          <a:xfrm>
            <a:off x="5715000" y="388620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Status updated: Placed → Ready → Collected</a:t>
            </a:r>
          </a:p>
        </p:txBody>
      </p:sp>
      <p:sp>
        <p:nvSpPr>
          <p:cNvPr id="33" name="TextBox 32"/>
          <p:cNvSpPr txBox="1"/>
          <p:nvPr/>
        </p:nvSpPr>
        <p:spPr>
          <a:xfrm>
            <a:off x="5303520" y="4663440"/>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34" name="TextBox 33"/>
          <p:cNvSpPr txBox="1"/>
          <p:nvPr/>
        </p:nvSpPr>
        <p:spPr>
          <a:xfrm>
            <a:off x="5715000" y="466344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Order ID + OTP verified at the counter</a:t>
            </a:r>
          </a:p>
        </p:txBody>
      </p:sp>
      <p:sp>
        <p:nvSpPr>
          <p:cNvPr id="35" name="TextBox 34"/>
          <p:cNvSpPr txBox="1"/>
          <p:nvPr/>
        </p:nvSpPr>
        <p:spPr>
          <a:xfrm>
            <a:off x="5303520" y="5440679"/>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36" name="TextBox 35"/>
          <p:cNvSpPr txBox="1"/>
          <p:nvPr/>
        </p:nvSpPr>
        <p:spPr>
          <a:xfrm>
            <a:off x="5715000" y="5440679"/>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Only today's available dishes are shown</a:t>
            </a:r>
          </a:p>
        </p:txBody>
      </p:sp>
      <p:sp>
        <p:nvSpPr>
          <p:cNvPr id="37" name="TextBox 36"/>
          <p:cNvSpPr txBox="1"/>
          <p:nvPr/>
        </p:nvSpPr>
        <p:spPr>
          <a:xfrm>
            <a:off x="5303520" y="6217920"/>
            <a:ext cx="365760" cy="548640"/>
          </a:xfrm>
          <a:prstGeom prst="rect">
            <a:avLst/>
          </a:prstGeom>
          <a:noFill/>
        </p:spPr>
        <p:txBody>
          <a:bodyPr wrap="square" anchor="ctr" lIns="45720" rIns="45720">
            <a:spAutoFit/>
          </a:bodyPr>
          <a:lstStyle/>
          <a:p>
            <a:pPr algn="l">
              <a:spcAft>
                <a:spcPts val="400"/>
              </a:spcAft>
            </a:pPr>
            <a:r>
              <a:rPr sz="2200" b="1" i="0">
                <a:solidFill>
                  <a:srgbClr val="1E8E3E"/>
                </a:solidFill>
                <a:latin typeface="Times New Roman"/>
              </a:rPr>
              <a:t>✓</a:t>
            </a:r>
          </a:p>
        </p:txBody>
      </p:sp>
      <p:sp>
        <p:nvSpPr>
          <p:cNvPr id="38" name="TextBox 37"/>
          <p:cNvSpPr txBox="1"/>
          <p:nvPr/>
        </p:nvSpPr>
        <p:spPr>
          <a:xfrm>
            <a:off x="5715000" y="6217920"/>
            <a:ext cx="3657600" cy="548640"/>
          </a:xfrm>
          <a:prstGeom prst="rect">
            <a:avLst/>
          </a:prstGeom>
          <a:noFill/>
        </p:spPr>
        <p:txBody>
          <a:bodyPr wrap="square" anchor="ctr" lIns="45720" rIns="45720">
            <a:spAutoFit/>
          </a:bodyPr>
          <a:lstStyle/>
          <a:p>
            <a:pPr algn="l">
              <a:spcAft>
                <a:spcPts val="400"/>
              </a:spcAft>
            </a:pPr>
            <a:r>
              <a:rPr sz="1600" b="0" i="0">
                <a:solidFill>
                  <a:srgbClr val="222222"/>
                </a:solidFill>
                <a:latin typeface="Times New Roman"/>
              </a:rPr>
              <a:t>Admin reports on orders and sales</a:t>
            </a:r>
          </a:p>
        </p:txBody>
      </p:sp>
    </p:spTree>
    <p:extLst>
      <p:ext uri="{BB962C8B-B14F-4D97-AF65-F5344CB8AC3E}">
        <p14:creationId xmlns:p14="http://schemas.microsoft.com/office/powerpoint/2010/main" val="419021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Objectives</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54480"/>
            <a:ext cx="8961120" cy="749808"/>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1520" y="1700784"/>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1</a:t>
            </a:r>
          </a:p>
        </p:txBody>
      </p:sp>
      <p:sp>
        <p:nvSpPr>
          <p:cNvPr id="13" name="TextBox 12"/>
          <p:cNvSpPr txBox="1"/>
          <p:nvPr/>
        </p:nvSpPr>
        <p:spPr>
          <a:xfrm>
            <a:off x="1371600" y="15544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Replace the phone-and-notebook system with online ordering for all campus restaurants.</a:t>
            </a:r>
          </a:p>
        </p:txBody>
      </p:sp>
      <p:sp>
        <p:nvSpPr>
          <p:cNvPr id="14" name="Rounded Rectangle 13"/>
          <p:cNvSpPr/>
          <p:nvPr/>
        </p:nvSpPr>
        <p:spPr>
          <a:xfrm>
            <a:off x="548640" y="2468880"/>
            <a:ext cx="8961120" cy="749808"/>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31520" y="2615184"/>
            <a:ext cx="457200" cy="45720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2</a:t>
            </a:r>
          </a:p>
        </p:txBody>
      </p:sp>
      <p:sp>
        <p:nvSpPr>
          <p:cNvPr id="16" name="TextBox 15"/>
          <p:cNvSpPr txBox="1"/>
          <p:nvPr/>
        </p:nvSpPr>
        <p:spPr>
          <a:xfrm>
            <a:off x="1371600" y="24688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Let students order from multiple restaurants and see only the dishes available today.</a:t>
            </a:r>
          </a:p>
        </p:txBody>
      </p:sp>
      <p:sp>
        <p:nvSpPr>
          <p:cNvPr id="17" name="Rounded Rectangle 16"/>
          <p:cNvSpPr/>
          <p:nvPr/>
        </p:nvSpPr>
        <p:spPr>
          <a:xfrm>
            <a:off x="548640" y="3383280"/>
            <a:ext cx="8961120" cy="749808"/>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529584"/>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3</a:t>
            </a:r>
          </a:p>
        </p:txBody>
      </p:sp>
      <p:sp>
        <p:nvSpPr>
          <p:cNvPr id="19" name="TextBox 18"/>
          <p:cNvSpPr txBox="1"/>
          <p:nvPr/>
        </p:nvSpPr>
        <p:spPr>
          <a:xfrm>
            <a:off x="1371600" y="33832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Generate a unique Order ID and OTP for every order to ensure safe, verified pickup.</a:t>
            </a:r>
          </a:p>
        </p:txBody>
      </p:sp>
      <p:sp>
        <p:nvSpPr>
          <p:cNvPr id="20" name="Rounded Rectangle 19"/>
          <p:cNvSpPr/>
          <p:nvPr/>
        </p:nvSpPr>
        <p:spPr>
          <a:xfrm>
            <a:off x="548640" y="4297680"/>
            <a:ext cx="8961120" cy="749808"/>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31520" y="4443984"/>
            <a:ext cx="457200" cy="45720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4</a:t>
            </a:r>
          </a:p>
        </p:txBody>
      </p:sp>
      <p:sp>
        <p:nvSpPr>
          <p:cNvPr id="22" name="TextBox 21"/>
          <p:cNvSpPr txBox="1"/>
          <p:nvPr/>
        </p:nvSpPr>
        <p:spPr>
          <a:xfrm>
            <a:off x="1371600" y="42976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Give each restaurant a dashboard to manage only its own menu, availability and orders.</a:t>
            </a:r>
          </a:p>
        </p:txBody>
      </p:sp>
      <p:sp>
        <p:nvSpPr>
          <p:cNvPr id="23" name="Rounded Rectangle 22"/>
          <p:cNvSpPr/>
          <p:nvPr/>
        </p:nvSpPr>
        <p:spPr>
          <a:xfrm>
            <a:off x="548640" y="5212080"/>
            <a:ext cx="8961120" cy="749808"/>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31520" y="5358384"/>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5</a:t>
            </a:r>
          </a:p>
        </p:txBody>
      </p:sp>
      <p:sp>
        <p:nvSpPr>
          <p:cNvPr id="25" name="TextBox 24"/>
          <p:cNvSpPr txBox="1"/>
          <p:nvPr/>
        </p:nvSpPr>
        <p:spPr>
          <a:xfrm>
            <a:off x="1371600" y="52120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Provide a hidden administrator who can manage restaurants, users and all orders.</a:t>
            </a:r>
          </a:p>
        </p:txBody>
      </p:sp>
      <p:sp>
        <p:nvSpPr>
          <p:cNvPr id="26" name="Rounded Rectangle 25"/>
          <p:cNvSpPr/>
          <p:nvPr/>
        </p:nvSpPr>
        <p:spPr>
          <a:xfrm>
            <a:off x="548640" y="6126480"/>
            <a:ext cx="8961120" cy="749808"/>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31520" y="6272784"/>
            <a:ext cx="457200" cy="45720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6</a:t>
            </a:r>
          </a:p>
        </p:txBody>
      </p:sp>
      <p:sp>
        <p:nvSpPr>
          <p:cNvPr id="28" name="TextBox 27"/>
          <p:cNvSpPr txBox="1"/>
          <p:nvPr/>
        </p:nvSpPr>
        <p:spPr>
          <a:xfrm>
            <a:off x="1371600" y="6126480"/>
            <a:ext cx="7955279" cy="749808"/>
          </a:xfrm>
          <a:prstGeom prst="rect">
            <a:avLst/>
          </a:prstGeom>
          <a:noFill/>
        </p:spPr>
        <p:txBody>
          <a:bodyPr wrap="square" anchor="ctr" lIns="45720" rIns="45720">
            <a:spAutoFit/>
          </a:bodyPr>
          <a:lstStyle/>
          <a:p>
            <a:pPr algn="l">
              <a:spcAft>
                <a:spcPts val="400"/>
              </a:spcAft>
            </a:pPr>
            <a:r>
              <a:rPr sz="1700" b="0" i="0">
                <a:solidFill>
                  <a:srgbClr val="222222"/>
                </a:solidFill>
                <a:latin typeface="Times New Roman"/>
              </a:rPr>
              <a:t>Build the system as independent Spring Boot microservices communicating through REST APIs.</a:t>
            </a:r>
          </a:p>
        </p:txBody>
      </p:sp>
    </p:spTree>
    <p:extLst>
      <p:ext uri="{BB962C8B-B14F-4D97-AF65-F5344CB8AC3E}">
        <p14:creationId xmlns:p14="http://schemas.microsoft.com/office/powerpoint/2010/main" val="4190210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Technologies Used</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54480"/>
            <a:ext cx="2834640" cy="26060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48640" y="1554480"/>
            <a:ext cx="2834640" cy="548640"/>
          </a:xfrm>
          <a:prstGeom prst="roundRect">
            <a:avLst>
              <a:gd name="adj" fmla="val 8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Backend</a:t>
            </a:r>
          </a:p>
        </p:txBody>
      </p:sp>
      <p:sp>
        <p:nvSpPr>
          <p:cNvPr id="13" name="TextBox 12"/>
          <p:cNvSpPr txBox="1"/>
          <p:nvPr/>
        </p:nvSpPr>
        <p:spPr>
          <a:xfrm>
            <a:off x="731520" y="224028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Java 17</a:t>
            </a:r>
          </a:p>
          <a:p>
            <a:pPr algn="l" marL="228600" indent="-228600">
              <a:spcAft>
                <a:spcPts val="600"/>
              </a:spcAft>
              <a:buClr>
                <a:srgbClr val="FF6600"/>
              </a:buClr>
              <a:buFont typeface="Arial"/>
              <a:buChar char="▪"/>
            </a:pPr>
            <a:r>
              <a:rPr sz="1600" b="0" i="0">
                <a:solidFill>
                  <a:srgbClr val="222222"/>
                </a:solidFill>
                <a:latin typeface="Times New Roman"/>
              </a:rPr>
              <a:t>Spring Boot 3</a:t>
            </a:r>
          </a:p>
          <a:p>
            <a:pPr algn="l" marL="228600" indent="-228600">
              <a:spcAft>
                <a:spcPts val="600"/>
              </a:spcAft>
              <a:buClr>
                <a:srgbClr val="FF6600"/>
              </a:buClr>
              <a:buFont typeface="Arial"/>
              <a:buChar char="▪"/>
            </a:pPr>
            <a:r>
              <a:rPr sz="1600" b="0" i="0">
                <a:solidFill>
                  <a:srgbClr val="222222"/>
                </a:solidFill>
                <a:latin typeface="Times New Roman"/>
              </a:rPr>
              <a:t>Spring Initializr</a:t>
            </a:r>
          </a:p>
          <a:p>
            <a:pPr algn="l" marL="228600" indent="-228600">
              <a:spcAft>
                <a:spcPts val="600"/>
              </a:spcAft>
              <a:buClr>
                <a:srgbClr val="FF6600"/>
              </a:buClr>
              <a:buFont typeface="Arial"/>
              <a:buChar char="▪"/>
            </a:pPr>
            <a:r>
              <a:rPr sz="1600" b="0" i="0">
                <a:solidFill>
                  <a:srgbClr val="222222"/>
                </a:solidFill>
                <a:latin typeface="Times New Roman"/>
              </a:rPr>
              <a:t>Spring Web – REST APIs</a:t>
            </a:r>
          </a:p>
        </p:txBody>
      </p:sp>
      <p:sp>
        <p:nvSpPr>
          <p:cNvPr id="14" name="Rounded Rectangle 13"/>
          <p:cNvSpPr/>
          <p:nvPr/>
        </p:nvSpPr>
        <p:spPr>
          <a:xfrm>
            <a:off x="3593592" y="1554480"/>
            <a:ext cx="2834640" cy="260604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593592" y="1554480"/>
            <a:ext cx="2834640" cy="548640"/>
          </a:xfrm>
          <a:prstGeom prst="roundRect">
            <a:avLst>
              <a:gd name="adj" fmla="val 8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Microservices</a:t>
            </a:r>
          </a:p>
        </p:txBody>
      </p:sp>
      <p:sp>
        <p:nvSpPr>
          <p:cNvPr id="16" name="TextBox 15"/>
          <p:cNvSpPr txBox="1"/>
          <p:nvPr/>
        </p:nvSpPr>
        <p:spPr>
          <a:xfrm>
            <a:off x="3776472" y="224028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Spring Cloud Gateway</a:t>
            </a:r>
          </a:p>
          <a:p>
            <a:pPr algn="l" marL="228600" indent="-228600">
              <a:spcAft>
                <a:spcPts val="600"/>
              </a:spcAft>
              <a:buClr>
                <a:srgbClr val="FF6600"/>
              </a:buClr>
              <a:buFont typeface="Arial"/>
              <a:buChar char="▪"/>
            </a:pPr>
            <a:r>
              <a:rPr sz="1600" b="0" i="0">
                <a:solidFill>
                  <a:srgbClr val="222222"/>
                </a:solidFill>
                <a:latin typeface="Times New Roman"/>
              </a:rPr>
              <a:t>Netflix Eureka Server</a:t>
            </a:r>
          </a:p>
          <a:p>
            <a:pPr algn="l" marL="228600" indent="-228600">
              <a:spcAft>
                <a:spcPts val="600"/>
              </a:spcAft>
              <a:buClr>
                <a:srgbClr val="FF6600"/>
              </a:buClr>
              <a:buFont typeface="Arial"/>
              <a:buChar char="▪"/>
            </a:pPr>
            <a:r>
              <a:rPr sz="1600" b="0" i="0">
                <a:solidFill>
                  <a:srgbClr val="222222"/>
                </a:solidFill>
                <a:latin typeface="Times New Roman"/>
              </a:rPr>
              <a:t>OpenFeign</a:t>
            </a:r>
          </a:p>
          <a:p>
            <a:pPr algn="l" marL="228600" indent="-228600">
              <a:spcAft>
                <a:spcPts val="600"/>
              </a:spcAft>
              <a:buClr>
                <a:srgbClr val="FF6600"/>
              </a:buClr>
              <a:buFont typeface="Arial"/>
              <a:buChar char="▪"/>
            </a:pPr>
            <a:r>
              <a:rPr sz="1600" b="0" i="0">
                <a:solidFill>
                  <a:srgbClr val="222222"/>
                </a:solidFill>
                <a:latin typeface="Times New Roman"/>
              </a:rPr>
              <a:t>Resilience4j</a:t>
            </a:r>
          </a:p>
        </p:txBody>
      </p:sp>
      <p:sp>
        <p:nvSpPr>
          <p:cNvPr id="17" name="Rounded Rectangle 16"/>
          <p:cNvSpPr/>
          <p:nvPr/>
        </p:nvSpPr>
        <p:spPr>
          <a:xfrm>
            <a:off x="6638544" y="1554480"/>
            <a:ext cx="2834640" cy="26060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638544" y="1554480"/>
            <a:ext cx="2834640" cy="548640"/>
          </a:xfrm>
          <a:prstGeom prst="roundRect">
            <a:avLst>
              <a:gd name="adj" fmla="val 8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Security</a:t>
            </a:r>
          </a:p>
        </p:txBody>
      </p:sp>
      <p:sp>
        <p:nvSpPr>
          <p:cNvPr id="19" name="TextBox 18"/>
          <p:cNvSpPr txBox="1"/>
          <p:nvPr/>
        </p:nvSpPr>
        <p:spPr>
          <a:xfrm>
            <a:off x="6821424" y="224028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Spring Security</a:t>
            </a:r>
          </a:p>
          <a:p>
            <a:pPr algn="l" marL="228600" indent="-228600">
              <a:spcAft>
                <a:spcPts val="600"/>
              </a:spcAft>
              <a:buClr>
                <a:srgbClr val="FF6600"/>
              </a:buClr>
              <a:buFont typeface="Arial"/>
              <a:buChar char="▪"/>
            </a:pPr>
            <a:r>
              <a:rPr sz="1600" b="0" i="0">
                <a:solidFill>
                  <a:srgbClr val="222222"/>
                </a:solidFill>
                <a:latin typeface="Times New Roman"/>
              </a:rPr>
              <a:t>JWT tokens</a:t>
            </a:r>
          </a:p>
          <a:p>
            <a:pPr algn="l" marL="228600" indent="-228600">
              <a:spcAft>
                <a:spcPts val="600"/>
              </a:spcAft>
              <a:buClr>
                <a:srgbClr val="FF6600"/>
              </a:buClr>
              <a:buFont typeface="Arial"/>
              <a:buChar char="▪"/>
            </a:pPr>
            <a:r>
              <a:rPr sz="1600" b="0" i="0">
                <a:solidFill>
                  <a:srgbClr val="222222"/>
                </a:solidFill>
                <a:latin typeface="Times New Roman"/>
              </a:rPr>
              <a:t>Role-based access</a:t>
            </a:r>
          </a:p>
          <a:p>
            <a:pPr algn="l" marL="228600" indent="-228600">
              <a:spcAft>
                <a:spcPts val="600"/>
              </a:spcAft>
              <a:buClr>
                <a:srgbClr val="FF6600"/>
              </a:buClr>
              <a:buFont typeface="Arial"/>
              <a:buChar char="▪"/>
            </a:pPr>
            <a:r>
              <a:rPr sz="1600" b="0" i="0">
                <a:solidFill>
                  <a:srgbClr val="222222"/>
                </a:solidFill>
                <a:latin typeface="Times New Roman"/>
              </a:rPr>
              <a:t>BCrypt hashing</a:t>
            </a:r>
          </a:p>
        </p:txBody>
      </p:sp>
      <p:sp>
        <p:nvSpPr>
          <p:cNvPr id="20" name="Rounded Rectangle 19"/>
          <p:cNvSpPr/>
          <p:nvPr/>
        </p:nvSpPr>
        <p:spPr>
          <a:xfrm>
            <a:off x="548640" y="4343400"/>
            <a:ext cx="2834640" cy="260604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548640" y="4343400"/>
            <a:ext cx="2834640" cy="548640"/>
          </a:xfrm>
          <a:prstGeom prst="roundRect">
            <a:avLst>
              <a:gd name="adj" fmla="val 8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Database</a:t>
            </a:r>
          </a:p>
        </p:txBody>
      </p:sp>
      <p:sp>
        <p:nvSpPr>
          <p:cNvPr id="22" name="TextBox 21"/>
          <p:cNvSpPr txBox="1"/>
          <p:nvPr/>
        </p:nvSpPr>
        <p:spPr>
          <a:xfrm>
            <a:off x="731520" y="502920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MySQL</a:t>
            </a:r>
          </a:p>
          <a:p>
            <a:pPr algn="l" marL="228600" indent="-228600">
              <a:spcAft>
                <a:spcPts val="600"/>
              </a:spcAft>
              <a:buClr>
                <a:srgbClr val="FF6600"/>
              </a:buClr>
              <a:buFont typeface="Arial"/>
              <a:buChar char="▪"/>
            </a:pPr>
            <a:r>
              <a:rPr sz="1600" b="0" i="0">
                <a:solidFill>
                  <a:srgbClr val="222222"/>
                </a:solidFill>
                <a:latin typeface="Times New Roman"/>
              </a:rPr>
              <a:t>Spring Data JPA</a:t>
            </a:r>
          </a:p>
          <a:p>
            <a:pPr algn="l" marL="228600" indent="-228600">
              <a:spcAft>
                <a:spcPts val="600"/>
              </a:spcAft>
              <a:buClr>
                <a:srgbClr val="FF6600"/>
              </a:buClr>
              <a:buFont typeface="Arial"/>
              <a:buChar char="▪"/>
            </a:pPr>
            <a:r>
              <a:rPr sz="1600" b="0" i="0">
                <a:solidFill>
                  <a:srgbClr val="222222"/>
                </a:solidFill>
                <a:latin typeface="Times New Roman"/>
              </a:rPr>
              <a:t>Hibernate</a:t>
            </a:r>
          </a:p>
          <a:p>
            <a:pPr algn="l" marL="228600" indent="-228600">
              <a:spcAft>
                <a:spcPts val="600"/>
              </a:spcAft>
              <a:buClr>
                <a:srgbClr val="FF6600"/>
              </a:buClr>
              <a:buFont typeface="Arial"/>
              <a:buChar char="▪"/>
            </a:pPr>
            <a:r>
              <a:rPr sz="1600" b="0" i="0">
                <a:solidFill>
                  <a:srgbClr val="222222"/>
                </a:solidFill>
                <a:latin typeface="Times New Roman"/>
              </a:rPr>
              <a:t>Database per service</a:t>
            </a:r>
          </a:p>
        </p:txBody>
      </p:sp>
      <p:sp>
        <p:nvSpPr>
          <p:cNvPr id="23" name="Rounded Rectangle 22"/>
          <p:cNvSpPr/>
          <p:nvPr/>
        </p:nvSpPr>
        <p:spPr>
          <a:xfrm>
            <a:off x="3593592" y="4343400"/>
            <a:ext cx="2834640" cy="26060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593592" y="4343400"/>
            <a:ext cx="2834640" cy="548640"/>
          </a:xfrm>
          <a:prstGeom prst="roundRect">
            <a:avLst>
              <a:gd name="adj" fmla="val 8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Frontend</a:t>
            </a:r>
          </a:p>
        </p:txBody>
      </p:sp>
      <p:sp>
        <p:nvSpPr>
          <p:cNvPr id="25" name="TextBox 24"/>
          <p:cNvSpPr txBox="1"/>
          <p:nvPr/>
        </p:nvSpPr>
        <p:spPr>
          <a:xfrm>
            <a:off x="3776472" y="502920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React (Vite)</a:t>
            </a:r>
          </a:p>
          <a:p>
            <a:pPr algn="l" marL="228600" indent="-228600">
              <a:spcAft>
                <a:spcPts val="600"/>
              </a:spcAft>
              <a:buClr>
                <a:srgbClr val="FF6600"/>
              </a:buClr>
              <a:buFont typeface="Arial"/>
              <a:buChar char="▪"/>
            </a:pPr>
            <a:r>
              <a:rPr sz="1600" b="0" i="0">
                <a:solidFill>
                  <a:srgbClr val="222222"/>
                </a:solidFill>
                <a:latin typeface="Times New Roman"/>
              </a:rPr>
              <a:t>Tailwind CSS</a:t>
            </a:r>
          </a:p>
          <a:p>
            <a:pPr algn="l" marL="228600" indent="-228600">
              <a:spcAft>
                <a:spcPts val="600"/>
              </a:spcAft>
              <a:buClr>
                <a:srgbClr val="FF6600"/>
              </a:buClr>
              <a:buFont typeface="Arial"/>
              <a:buChar char="▪"/>
            </a:pPr>
            <a:r>
              <a:rPr sz="1600" b="0" i="0">
                <a:solidFill>
                  <a:srgbClr val="222222"/>
                </a:solidFill>
                <a:latin typeface="Times New Roman"/>
              </a:rPr>
              <a:t>Axios</a:t>
            </a:r>
          </a:p>
          <a:p>
            <a:pPr algn="l" marL="228600" indent="-228600">
              <a:spcAft>
                <a:spcPts val="600"/>
              </a:spcAft>
              <a:buClr>
                <a:srgbClr val="FF6600"/>
              </a:buClr>
              <a:buFont typeface="Arial"/>
              <a:buChar char="▪"/>
            </a:pPr>
            <a:r>
              <a:rPr sz="1600" b="0" i="0">
                <a:solidFill>
                  <a:srgbClr val="222222"/>
                </a:solidFill>
                <a:latin typeface="Times New Roman"/>
              </a:rPr>
              <a:t>React Router</a:t>
            </a:r>
          </a:p>
        </p:txBody>
      </p:sp>
      <p:sp>
        <p:nvSpPr>
          <p:cNvPr id="26" name="Rounded Rectangle 25"/>
          <p:cNvSpPr/>
          <p:nvPr/>
        </p:nvSpPr>
        <p:spPr>
          <a:xfrm>
            <a:off x="6638544" y="4343400"/>
            <a:ext cx="2834640" cy="260604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638544" y="4343400"/>
            <a:ext cx="2834640" cy="548640"/>
          </a:xfrm>
          <a:prstGeom prst="roundRect">
            <a:avLst>
              <a:gd name="adj" fmla="val 8000"/>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Tools</a:t>
            </a:r>
          </a:p>
        </p:txBody>
      </p:sp>
      <p:sp>
        <p:nvSpPr>
          <p:cNvPr id="28" name="TextBox 27"/>
          <p:cNvSpPr txBox="1"/>
          <p:nvPr/>
        </p:nvSpPr>
        <p:spPr>
          <a:xfrm>
            <a:off x="6821424" y="5029200"/>
            <a:ext cx="2560320" cy="1874519"/>
          </a:xfrm>
          <a:prstGeom prst="rect">
            <a:avLst/>
          </a:prstGeom>
          <a:noFill/>
        </p:spPr>
        <p:txBody>
          <a:bodyPr wrap="square" anchor="t" lIns="45720" rIns="45720">
            <a:spAutoFit/>
          </a:bodyPr>
          <a:lstStyle/>
          <a:p>
            <a:pPr algn="l" marL="228600" indent="-228600">
              <a:spcAft>
                <a:spcPts val="600"/>
              </a:spcAft>
              <a:buClr>
                <a:srgbClr val="FF6600"/>
              </a:buClr>
              <a:buFont typeface="Arial"/>
              <a:buChar char="▪"/>
            </a:pPr>
            <a:r>
              <a:rPr sz="1600" b="0" i="0">
                <a:solidFill>
                  <a:srgbClr val="222222"/>
                </a:solidFill>
                <a:latin typeface="Times New Roman"/>
              </a:rPr>
              <a:t>Swagger (OpenAPI)</a:t>
            </a:r>
          </a:p>
          <a:p>
            <a:pPr algn="l" marL="228600" indent="-228600">
              <a:spcAft>
                <a:spcPts val="600"/>
              </a:spcAft>
              <a:buClr>
                <a:srgbClr val="FF6600"/>
              </a:buClr>
              <a:buFont typeface="Arial"/>
              <a:buChar char="▪"/>
            </a:pPr>
            <a:r>
              <a:rPr sz="1600" b="0" i="0">
                <a:solidFill>
                  <a:srgbClr val="222222"/>
                </a:solidFill>
                <a:latin typeface="Times New Roman"/>
              </a:rPr>
              <a:t>Postman</a:t>
            </a:r>
          </a:p>
          <a:p>
            <a:pPr algn="l" marL="228600" indent="-228600">
              <a:spcAft>
                <a:spcPts val="600"/>
              </a:spcAft>
              <a:buClr>
                <a:srgbClr val="FF6600"/>
              </a:buClr>
              <a:buFont typeface="Arial"/>
              <a:buChar char="▪"/>
            </a:pPr>
            <a:r>
              <a:rPr sz="1600" b="0" i="0">
                <a:solidFill>
                  <a:srgbClr val="222222"/>
                </a:solidFill>
                <a:latin typeface="Times New Roman"/>
              </a:rPr>
              <a:t>Maven</a:t>
            </a:r>
          </a:p>
          <a:p>
            <a:pPr algn="l" marL="228600" indent="-228600">
              <a:spcAft>
                <a:spcPts val="600"/>
              </a:spcAft>
              <a:buClr>
                <a:srgbClr val="FF6600"/>
              </a:buClr>
              <a:buFont typeface="Arial"/>
              <a:buChar char="▪"/>
            </a:pPr>
            <a:r>
              <a:rPr sz="1600" b="0" i="0">
                <a:solidFill>
                  <a:srgbClr val="222222"/>
                </a:solidFill>
                <a:latin typeface="Times New Roman"/>
              </a:rPr>
              <a:t>Git &amp; GitHub</a:t>
            </a:r>
          </a:p>
        </p:txBody>
      </p:sp>
    </p:spTree>
    <p:extLst>
      <p:ext uri="{BB962C8B-B14F-4D97-AF65-F5344CB8AC3E}">
        <p14:creationId xmlns:p14="http://schemas.microsoft.com/office/powerpoint/2010/main" val="4190210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System Architecture</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08760"/>
            <a:ext cx="2103120" cy="685800"/>
          </a:xfrm>
          <a:prstGeom prst="roundRect">
            <a:avLst>
              <a:gd name="adj" fmla="val 8000"/>
            </a:avLst>
          </a:prstGeom>
          <a:solidFill>
            <a:srgbClr val="EAF0FA"/>
          </a:solidFill>
          <a:ln w="12700">
            <a:solidFill>
              <a:srgbClr val="1B3F8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1B3F8B"/>
                </a:solidFill>
                <a:latin typeface="Times New Roman"/>
              </a:rPr>
              <a:t>Student Portal</a:t>
            </a:r>
          </a:p>
          <a:p>
            <a:pPr algn="ctr"/>
            <a:r>
              <a:rPr sz="1200" b="0" i="0">
                <a:solidFill>
                  <a:srgbClr val="555555"/>
                </a:solidFill>
                <a:latin typeface="Times New Roman"/>
              </a:rPr>
              <a:t>React · Tailwind</a:t>
            </a:r>
          </a:p>
        </p:txBody>
      </p:sp>
      <p:cxnSp>
        <p:nvCxnSpPr>
          <p:cNvPr id="12" name="Connector 11"/>
          <p:cNvCxnSpPr/>
          <p:nvPr/>
        </p:nvCxnSpPr>
        <p:spPr>
          <a:xfrm>
            <a:off x="1600200" y="219456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17520" y="1508760"/>
            <a:ext cx="2103120" cy="685800"/>
          </a:xfrm>
          <a:prstGeom prst="roundRect">
            <a:avLst>
              <a:gd name="adj" fmla="val 8000"/>
            </a:avLst>
          </a:prstGeom>
          <a:solidFill>
            <a:srgbClr val="EAF0FA"/>
          </a:solidFill>
          <a:ln w="12700">
            <a:solidFill>
              <a:srgbClr val="1B3F8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1B3F8B"/>
                </a:solidFill>
                <a:latin typeface="Times New Roman"/>
              </a:rPr>
              <a:t>Restaurant Portal</a:t>
            </a:r>
          </a:p>
          <a:p>
            <a:pPr algn="ctr"/>
            <a:r>
              <a:rPr sz="1200" b="0" i="0">
                <a:solidFill>
                  <a:srgbClr val="555555"/>
                </a:solidFill>
                <a:latin typeface="Times New Roman"/>
              </a:rPr>
              <a:t>React · Tailwind</a:t>
            </a:r>
          </a:p>
        </p:txBody>
      </p:sp>
      <p:cxnSp>
        <p:nvCxnSpPr>
          <p:cNvPr id="14" name="Connector 13"/>
          <p:cNvCxnSpPr/>
          <p:nvPr/>
        </p:nvCxnSpPr>
        <p:spPr>
          <a:xfrm>
            <a:off x="4069079" y="219456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0" y="1508760"/>
            <a:ext cx="2103120" cy="685800"/>
          </a:xfrm>
          <a:prstGeom prst="roundRect">
            <a:avLst>
              <a:gd name="adj" fmla="val 8000"/>
            </a:avLst>
          </a:prstGeom>
          <a:solidFill>
            <a:srgbClr val="EAF0FA"/>
          </a:solidFill>
          <a:ln w="12700">
            <a:solidFill>
              <a:srgbClr val="1B3F8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1B3F8B"/>
                </a:solidFill>
                <a:latin typeface="Times New Roman"/>
              </a:rPr>
              <a:t>Admin Portal</a:t>
            </a:r>
          </a:p>
          <a:p>
            <a:pPr algn="ctr"/>
            <a:r>
              <a:rPr sz="1200" b="0" i="0">
                <a:solidFill>
                  <a:srgbClr val="555555"/>
                </a:solidFill>
                <a:latin typeface="Times New Roman"/>
              </a:rPr>
              <a:t>React · hidden URL</a:t>
            </a:r>
          </a:p>
        </p:txBody>
      </p:sp>
      <p:cxnSp>
        <p:nvCxnSpPr>
          <p:cNvPr id="16" name="Connector 15"/>
          <p:cNvCxnSpPr/>
          <p:nvPr/>
        </p:nvCxnSpPr>
        <p:spPr>
          <a:xfrm>
            <a:off x="6537960" y="219456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2606040"/>
            <a:ext cx="7040880" cy="777240"/>
          </a:xfrm>
          <a:prstGeom prst="roundRect">
            <a:avLst>
              <a:gd name="adj" fmla="val 8000"/>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900" b="1" i="0">
                <a:solidFill>
                  <a:srgbClr val="FFFFFF"/>
                </a:solidFill>
                <a:latin typeface="Times New Roman"/>
              </a:rPr>
              <a:t>API Gateway</a:t>
            </a:r>
            <a:r>
              <a:rPr sz="1400" b="0" i="0">
                <a:solidFill>
                  <a:srgbClr val="FFFFFF"/>
                </a:solidFill>
                <a:latin typeface="Times New Roman"/>
              </a:rPr>
              <a:t>   (Spring Cloud Gateway · port 8080)</a:t>
            </a:r>
          </a:p>
          <a:p>
            <a:pPr algn="ctr"/>
            <a:r>
              <a:rPr sz="1300" b="0" i="0">
                <a:solidFill>
                  <a:srgbClr val="FFFFFF"/>
                </a:solidFill>
                <a:latin typeface="Times New Roman"/>
              </a:rPr>
              <a:t>Single entry point · routes requests · validates JWT &amp; role</a:t>
            </a:r>
          </a:p>
        </p:txBody>
      </p:sp>
      <p:cxnSp>
        <p:nvCxnSpPr>
          <p:cNvPr id="18" name="Connector 17"/>
          <p:cNvCxnSpPr/>
          <p:nvPr/>
        </p:nvCxnSpPr>
        <p:spPr>
          <a:xfrm>
            <a:off x="1600200" y="338328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794760"/>
            <a:ext cx="2103120" cy="960120"/>
          </a:xfrm>
          <a:prstGeom prst="roundRect">
            <a:avLst>
              <a:gd name="adj" fmla="val 8000"/>
            </a:avLst>
          </a:prstGeom>
          <a:solidFill>
            <a:srgbClr val="FFF0E5"/>
          </a:solid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1B3F8B"/>
                </a:solidFill>
                <a:latin typeface="Times New Roman"/>
              </a:rPr>
              <a:t>Auth Service</a:t>
            </a:r>
          </a:p>
          <a:p>
            <a:pPr algn="ctr"/>
            <a:r>
              <a:rPr sz="1200" b="0" i="0">
                <a:solidFill>
                  <a:srgbClr val="555555"/>
                </a:solidFill>
                <a:latin typeface="Times New Roman"/>
              </a:rPr>
              <a:t>port 8081</a:t>
            </a:r>
          </a:p>
          <a:p>
            <a:pPr algn="ctr"/>
            <a:r>
              <a:rPr sz="1300" b="0" i="0">
                <a:solidFill>
                  <a:srgbClr val="222222"/>
                </a:solidFill>
                <a:latin typeface="Times New Roman"/>
              </a:rPr>
              <a:t>Login · JWT · roles</a:t>
            </a:r>
          </a:p>
        </p:txBody>
      </p:sp>
      <p:cxnSp>
        <p:nvCxnSpPr>
          <p:cNvPr id="20" name="Connector 19"/>
          <p:cNvCxnSpPr/>
          <p:nvPr/>
        </p:nvCxnSpPr>
        <p:spPr>
          <a:xfrm>
            <a:off x="1600200" y="4754880"/>
            <a:ext cx="0" cy="365760"/>
          </a:xfrm>
          <a:prstGeom prst="line">
            <a:avLst/>
          </a:prstGeom>
          <a:ln w="15875">
            <a:solidFill>
              <a:srgbClr val="1B3F8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Can 20"/>
          <p:cNvSpPr/>
          <p:nvPr/>
        </p:nvSpPr>
        <p:spPr>
          <a:xfrm>
            <a:off x="960120" y="5120640"/>
            <a:ext cx="1280160" cy="914400"/>
          </a:xfrm>
          <a:prstGeom prst="can">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200" b="0" i="0">
                <a:solidFill>
                  <a:srgbClr val="FFFFFF"/>
                </a:solidFill>
                <a:latin typeface="Times New Roman"/>
              </a:rPr>
              <a:t>MySQL</a:t>
            </a:r>
          </a:p>
          <a:p>
            <a:pPr algn="ctr"/>
            <a:r>
              <a:rPr sz="1200" b="1" i="0">
                <a:solidFill>
                  <a:srgbClr val="FFFFFF"/>
                </a:solidFill>
                <a:latin typeface="Times New Roman"/>
              </a:rPr>
              <a:t>auth_db</a:t>
            </a:r>
          </a:p>
        </p:txBody>
      </p:sp>
      <p:cxnSp>
        <p:nvCxnSpPr>
          <p:cNvPr id="22" name="Connector 21"/>
          <p:cNvCxnSpPr/>
          <p:nvPr/>
        </p:nvCxnSpPr>
        <p:spPr>
          <a:xfrm>
            <a:off x="4069079" y="338328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017520" y="3794760"/>
            <a:ext cx="2103120" cy="960120"/>
          </a:xfrm>
          <a:prstGeom prst="roundRect">
            <a:avLst>
              <a:gd name="adj" fmla="val 8000"/>
            </a:avLst>
          </a:prstGeom>
          <a:solidFill>
            <a:srgbClr val="FFF0E5"/>
          </a:solid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1B3F8B"/>
                </a:solidFill>
                <a:latin typeface="Times New Roman"/>
              </a:rPr>
              <a:t>Restaurant Service</a:t>
            </a:r>
          </a:p>
          <a:p>
            <a:pPr algn="ctr"/>
            <a:r>
              <a:rPr sz="1200" b="0" i="0">
                <a:solidFill>
                  <a:srgbClr val="555555"/>
                </a:solidFill>
                <a:latin typeface="Times New Roman"/>
              </a:rPr>
              <a:t>port 8082</a:t>
            </a:r>
          </a:p>
          <a:p>
            <a:pPr algn="ctr"/>
            <a:r>
              <a:rPr sz="1300" b="0" i="0">
                <a:solidFill>
                  <a:srgbClr val="222222"/>
                </a:solidFill>
                <a:latin typeface="Times New Roman"/>
              </a:rPr>
              <a:t>Dishes · availability</a:t>
            </a:r>
          </a:p>
        </p:txBody>
      </p:sp>
      <p:cxnSp>
        <p:nvCxnSpPr>
          <p:cNvPr id="24" name="Connector 23"/>
          <p:cNvCxnSpPr/>
          <p:nvPr/>
        </p:nvCxnSpPr>
        <p:spPr>
          <a:xfrm>
            <a:off x="4069079" y="4754880"/>
            <a:ext cx="0" cy="365760"/>
          </a:xfrm>
          <a:prstGeom prst="line">
            <a:avLst/>
          </a:prstGeom>
          <a:ln w="15875">
            <a:solidFill>
              <a:srgbClr val="1B3F8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Can 24"/>
          <p:cNvSpPr/>
          <p:nvPr/>
        </p:nvSpPr>
        <p:spPr>
          <a:xfrm>
            <a:off x="3429000" y="5120640"/>
            <a:ext cx="1280160" cy="914400"/>
          </a:xfrm>
          <a:prstGeom prst="can">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200" b="0" i="0">
                <a:solidFill>
                  <a:srgbClr val="FFFFFF"/>
                </a:solidFill>
                <a:latin typeface="Times New Roman"/>
              </a:rPr>
              <a:t>MySQL</a:t>
            </a:r>
          </a:p>
          <a:p>
            <a:pPr algn="ctr"/>
            <a:r>
              <a:rPr sz="1200" b="1" i="0">
                <a:solidFill>
                  <a:srgbClr val="FFFFFF"/>
                </a:solidFill>
                <a:latin typeface="Times New Roman"/>
              </a:rPr>
              <a:t>restaurant_db</a:t>
            </a:r>
          </a:p>
        </p:txBody>
      </p:sp>
      <p:cxnSp>
        <p:nvCxnSpPr>
          <p:cNvPr id="26" name="Connector 25"/>
          <p:cNvCxnSpPr/>
          <p:nvPr/>
        </p:nvCxnSpPr>
        <p:spPr>
          <a:xfrm>
            <a:off x="6537960" y="3383280"/>
            <a:ext cx="0" cy="411480"/>
          </a:xfrm>
          <a:prstGeom prst="line">
            <a:avLst/>
          </a:prstGeom>
          <a:ln w="22225">
            <a:solidFill>
              <a:srgbClr val="1B3F8B"/>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486400" y="3794760"/>
            <a:ext cx="2103120" cy="960120"/>
          </a:xfrm>
          <a:prstGeom prst="roundRect">
            <a:avLst>
              <a:gd name="adj" fmla="val 8000"/>
            </a:avLst>
          </a:prstGeom>
          <a:solidFill>
            <a:srgbClr val="FFF0E5"/>
          </a:solid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1B3F8B"/>
                </a:solidFill>
                <a:latin typeface="Times New Roman"/>
              </a:rPr>
              <a:t>Order Service</a:t>
            </a:r>
          </a:p>
          <a:p>
            <a:pPr algn="ctr"/>
            <a:r>
              <a:rPr sz="1200" b="0" i="0">
                <a:solidFill>
                  <a:srgbClr val="555555"/>
                </a:solidFill>
                <a:latin typeface="Times New Roman"/>
              </a:rPr>
              <a:t>port 8083</a:t>
            </a:r>
          </a:p>
          <a:p>
            <a:pPr algn="ctr"/>
            <a:r>
              <a:rPr sz="1300" b="0" i="0">
                <a:solidFill>
                  <a:srgbClr val="222222"/>
                </a:solidFill>
                <a:latin typeface="Times New Roman"/>
              </a:rPr>
              <a:t>Orders · ID + OTP</a:t>
            </a:r>
          </a:p>
        </p:txBody>
      </p:sp>
      <p:cxnSp>
        <p:nvCxnSpPr>
          <p:cNvPr id="28" name="Connector 27"/>
          <p:cNvCxnSpPr/>
          <p:nvPr/>
        </p:nvCxnSpPr>
        <p:spPr>
          <a:xfrm>
            <a:off x="6537960" y="4754880"/>
            <a:ext cx="0" cy="365760"/>
          </a:xfrm>
          <a:prstGeom prst="line">
            <a:avLst/>
          </a:prstGeom>
          <a:ln w="15875">
            <a:solidFill>
              <a:srgbClr val="1B3F8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Can 28"/>
          <p:cNvSpPr/>
          <p:nvPr/>
        </p:nvSpPr>
        <p:spPr>
          <a:xfrm>
            <a:off x="5897880" y="5120640"/>
            <a:ext cx="1280160" cy="914400"/>
          </a:xfrm>
          <a:prstGeom prst="can">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200" b="0" i="0">
                <a:solidFill>
                  <a:srgbClr val="FFFFFF"/>
                </a:solidFill>
                <a:latin typeface="Times New Roman"/>
              </a:rPr>
              <a:t>MySQL</a:t>
            </a:r>
          </a:p>
          <a:p>
            <a:pPr algn="ctr"/>
            <a:r>
              <a:rPr sz="1200" b="1" i="0">
                <a:solidFill>
                  <a:srgbClr val="FFFFFF"/>
                </a:solidFill>
                <a:latin typeface="Times New Roman"/>
              </a:rPr>
              <a:t>order_db</a:t>
            </a:r>
          </a:p>
        </p:txBody>
      </p:sp>
      <p:cxnSp>
        <p:nvCxnSpPr>
          <p:cNvPr id="30" name="Connector 29"/>
          <p:cNvCxnSpPr/>
          <p:nvPr/>
        </p:nvCxnSpPr>
        <p:spPr>
          <a:xfrm flipH="1">
            <a:off x="5120640" y="4279392"/>
            <a:ext cx="365760" cy="0"/>
          </a:xfrm>
          <a:prstGeom prst="line">
            <a:avLst/>
          </a:prstGeom>
          <a:ln w="25400">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01000" y="2606040"/>
            <a:ext cx="1600200" cy="2148840"/>
          </a:xfrm>
          <a:prstGeom prst="roundRect">
            <a:avLst>
              <a:gd name="adj" fmla="val 8000"/>
            </a:avLst>
          </a:prstGeom>
          <a:solidFill>
            <a:srgbClr val="EAF0FA"/>
          </a:solidFill>
          <a:ln w="19050">
            <a:solidFill>
              <a:srgbClr val="1B3F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1B3F8B"/>
                </a:solidFill>
                <a:latin typeface="Times New Roman"/>
              </a:rPr>
              <a:t>Eureka Server</a:t>
            </a:r>
          </a:p>
          <a:p>
            <a:pPr algn="ctr"/>
            <a:r>
              <a:rPr sz="1300" b="0" i="0">
                <a:solidFill>
                  <a:srgbClr val="555555"/>
                </a:solidFill>
                <a:latin typeface="Times New Roman"/>
              </a:rPr>
              <a:t>:8761</a:t>
            </a:r>
          </a:p>
          <a:p>
            <a:pPr algn="ctr"/>
            <a:r>
              <a:rPr sz="1200" b="0" i="0">
                <a:solidFill>
                  <a:srgbClr val="222222"/>
                </a:solidFill>
                <a:latin typeface="Times New Roman"/>
              </a:rPr>
              <a:t>Service registry – all services register &amp; discover each other</a:t>
            </a:r>
          </a:p>
        </p:txBody>
      </p:sp>
      <p:cxnSp>
        <p:nvCxnSpPr>
          <p:cNvPr id="32" name="Connector 31"/>
          <p:cNvCxnSpPr/>
          <p:nvPr/>
        </p:nvCxnSpPr>
        <p:spPr>
          <a:xfrm>
            <a:off x="7589520" y="2990088"/>
            <a:ext cx="411480" cy="0"/>
          </a:xfrm>
          <a:prstGeom prst="line">
            <a:avLst/>
          </a:prstGeom>
          <a:ln w="15875">
            <a:solidFill>
              <a:srgbClr val="1B3F8B"/>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589520" y="4279392"/>
            <a:ext cx="411480" cy="0"/>
          </a:xfrm>
          <a:prstGeom prst="line">
            <a:avLst/>
          </a:prstGeom>
          <a:ln w="15875">
            <a:solidFill>
              <a:srgbClr val="1B3F8B"/>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6355080"/>
            <a:ext cx="9052560" cy="731520"/>
          </a:xfrm>
          <a:prstGeom prst="rect">
            <a:avLst/>
          </a:prstGeom>
          <a:noFill/>
        </p:spPr>
        <p:txBody>
          <a:bodyPr wrap="square" anchor="t" lIns="45720" rIns="45720">
            <a:spAutoFit/>
          </a:bodyPr>
          <a:lstStyle/>
          <a:p>
            <a:pPr algn="l">
              <a:spcAft>
                <a:spcPts val="400"/>
              </a:spcAft>
            </a:pPr>
            <a:r>
              <a:rPr sz="1500" b="1" i="0">
                <a:solidFill>
                  <a:srgbClr val="1B3F8B"/>
                </a:solidFill>
                <a:latin typeface="Times New Roman"/>
              </a:rPr>
              <a:t>Flow: </a:t>
            </a:r>
            <a:r>
              <a:rPr sz="1500" b="0" i="0">
                <a:solidFill>
                  <a:srgbClr val="222222"/>
                </a:solidFill>
                <a:latin typeface="Times New Roman"/>
              </a:rPr>
              <a:t>React app → API Gateway → microservice → its own MySQL database. Clients never call services directly; the Order Service calls the Restaurant Service via REST to check dishes and prices.</a:t>
            </a:r>
          </a:p>
        </p:txBody>
      </p:sp>
    </p:spTree>
    <p:extLst>
      <p:ext uri="{BB962C8B-B14F-4D97-AF65-F5344CB8AC3E}">
        <p14:creationId xmlns:p14="http://schemas.microsoft.com/office/powerpoint/2010/main" val="419021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Modules</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08760"/>
            <a:ext cx="2834640" cy="562356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600200" y="1645920"/>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FFFFFF"/>
                </a:solidFill>
                <a:latin typeface="Times New Roman"/>
              </a:rPr>
              <a:t>S</a:t>
            </a:r>
          </a:p>
        </p:txBody>
      </p:sp>
      <p:sp>
        <p:nvSpPr>
          <p:cNvPr id="13" name="TextBox 12"/>
          <p:cNvSpPr txBox="1"/>
          <p:nvPr/>
        </p:nvSpPr>
        <p:spPr>
          <a:xfrm>
            <a:off x="640080" y="2450592"/>
            <a:ext cx="2651760" cy="411480"/>
          </a:xfrm>
          <a:prstGeom prst="rect">
            <a:avLst/>
          </a:prstGeom>
          <a:noFill/>
        </p:spPr>
        <p:txBody>
          <a:bodyPr wrap="square" anchor="t" lIns="45720" rIns="45720">
            <a:spAutoFit/>
          </a:bodyPr>
          <a:lstStyle/>
          <a:p>
            <a:pPr algn="ctr">
              <a:spcAft>
                <a:spcPts val="400"/>
              </a:spcAft>
            </a:pPr>
            <a:r>
              <a:rPr sz="2000" b="1" i="0">
                <a:solidFill>
                  <a:srgbClr val="FF6600"/>
                </a:solidFill>
                <a:latin typeface="Times New Roman"/>
              </a:rPr>
              <a:t>Student</a:t>
            </a:r>
          </a:p>
        </p:txBody>
      </p:sp>
      <p:sp>
        <p:nvSpPr>
          <p:cNvPr id="14" name="TextBox 13"/>
          <p:cNvSpPr txBox="1"/>
          <p:nvPr/>
        </p:nvSpPr>
        <p:spPr>
          <a:xfrm>
            <a:off x="731520" y="2971800"/>
            <a:ext cx="2560320" cy="4114800"/>
          </a:xfrm>
          <a:prstGeom prst="rect">
            <a:avLst/>
          </a:prstGeom>
          <a:noFill/>
        </p:spPr>
        <p:txBody>
          <a:bodyPr wrap="square" anchor="t" lIns="45720" rIns="45720">
            <a:spAutoFit/>
          </a:bodyPr>
          <a:lstStyle/>
          <a:p>
            <a:pPr algn="l" marL="228600" indent="-228600">
              <a:spcAft>
                <a:spcPts val="900"/>
              </a:spcAft>
              <a:buClr>
                <a:srgbClr val="FF6600"/>
              </a:buClr>
              <a:buFont typeface="Arial"/>
              <a:buChar char="▪"/>
            </a:pPr>
            <a:r>
              <a:rPr sz="1500" b="0" i="0">
                <a:solidFill>
                  <a:srgbClr val="222222"/>
                </a:solidFill>
                <a:latin typeface="Times New Roman"/>
              </a:rPr>
              <a:t>Register / login</a:t>
            </a:r>
          </a:p>
          <a:p>
            <a:pPr algn="l" marL="228600" indent="-228600">
              <a:spcAft>
                <a:spcPts val="900"/>
              </a:spcAft>
              <a:buClr>
                <a:srgbClr val="FF6600"/>
              </a:buClr>
              <a:buFont typeface="Arial"/>
              <a:buChar char="▪"/>
            </a:pPr>
            <a:r>
              <a:rPr sz="1500" b="0" i="0">
                <a:solidFill>
                  <a:srgbClr val="222222"/>
                </a:solidFill>
                <a:latin typeface="Times New Roman"/>
              </a:rPr>
              <a:t>Choose a restaurant</a:t>
            </a:r>
          </a:p>
          <a:p>
            <a:pPr algn="l" marL="228600" indent="-228600">
              <a:spcAft>
                <a:spcPts val="900"/>
              </a:spcAft>
              <a:buClr>
                <a:srgbClr val="FF6600"/>
              </a:buClr>
              <a:buFont typeface="Arial"/>
              <a:buChar char="▪"/>
            </a:pPr>
            <a:r>
              <a:rPr sz="1500" b="0" i="0">
                <a:solidFill>
                  <a:srgbClr val="222222"/>
                </a:solidFill>
                <a:latin typeface="Times New Roman"/>
              </a:rPr>
              <a:t>See only today's available dishes</a:t>
            </a:r>
          </a:p>
          <a:p>
            <a:pPr algn="l" marL="228600" indent="-228600">
              <a:spcAft>
                <a:spcPts val="900"/>
              </a:spcAft>
              <a:buClr>
                <a:srgbClr val="FF6600"/>
              </a:buClr>
              <a:buFont typeface="Arial"/>
              <a:buChar char="▪"/>
            </a:pPr>
            <a:r>
              <a:rPr sz="1500" b="0" i="0">
                <a:solidFill>
                  <a:srgbClr val="222222"/>
                </a:solidFill>
                <a:latin typeface="Times New Roman"/>
              </a:rPr>
              <a:t>Add to cart &amp; place order</a:t>
            </a:r>
          </a:p>
          <a:p>
            <a:pPr algn="l" marL="228600" indent="-228600">
              <a:spcAft>
                <a:spcPts val="900"/>
              </a:spcAft>
              <a:buClr>
                <a:srgbClr val="FF6600"/>
              </a:buClr>
              <a:buFont typeface="Arial"/>
              <a:buChar char="▪"/>
            </a:pPr>
            <a:r>
              <a:rPr sz="1500" b="0" i="0">
                <a:solidFill>
                  <a:srgbClr val="222222"/>
                </a:solidFill>
                <a:latin typeface="Times New Roman"/>
              </a:rPr>
              <a:t>Get Order ID + OTP on screen</a:t>
            </a:r>
          </a:p>
          <a:p>
            <a:pPr algn="l" marL="228600" indent="-228600">
              <a:spcAft>
                <a:spcPts val="900"/>
              </a:spcAft>
              <a:buClr>
                <a:srgbClr val="FF6600"/>
              </a:buClr>
              <a:buFont typeface="Arial"/>
              <a:buChar char="▪"/>
            </a:pPr>
            <a:r>
              <a:rPr sz="1500" b="0" i="0">
                <a:solidFill>
                  <a:srgbClr val="222222"/>
                </a:solidFill>
                <a:latin typeface="Times New Roman"/>
              </a:rPr>
              <a:t>Track order status</a:t>
            </a:r>
          </a:p>
          <a:p>
            <a:pPr algn="l" marL="228600" indent="-228600">
              <a:spcAft>
                <a:spcPts val="900"/>
              </a:spcAft>
              <a:buClr>
                <a:srgbClr val="FF6600"/>
              </a:buClr>
              <a:buFont typeface="Arial"/>
              <a:buChar char="▪"/>
            </a:pPr>
            <a:r>
              <a:rPr sz="1500" b="0" i="0">
                <a:solidFill>
                  <a:srgbClr val="222222"/>
                </a:solidFill>
                <a:latin typeface="Times New Roman"/>
              </a:rPr>
              <a:t>Collect at counter (no room delivery)</a:t>
            </a:r>
          </a:p>
        </p:txBody>
      </p:sp>
      <p:sp>
        <p:nvSpPr>
          <p:cNvPr id="15" name="Rounded Rectangle 14"/>
          <p:cNvSpPr/>
          <p:nvPr/>
        </p:nvSpPr>
        <p:spPr>
          <a:xfrm>
            <a:off x="3593592" y="1508760"/>
            <a:ext cx="2834640" cy="562356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45152" y="1645920"/>
            <a:ext cx="731520" cy="73152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FFFFFF"/>
                </a:solidFill>
                <a:latin typeface="Times New Roman"/>
              </a:rPr>
              <a:t>R</a:t>
            </a:r>
          </a:p>
        </p:txBody>
      </p:sp>
      <p:sp>
        <p:nvSpPr>
          <p:cNvPr id="17" name="TextBox 16"/>
          <p:cNvSpPr txBox="1"/>
          <p:nvPr/>
        </p:nvSpPr>
        <p:spPr>
          <a:xfrm>
            <a:off x="3685032" y="2450592"/>
            <a:ext cx="2651760" cy="411480"/>
          </a:xfrm>
          <a:prstGeom prst="rect">
            <a:avLst/>
          </a:prstGeom>
          <a:noFill/>
        </p:spPr>
        <p:txBody>
          <a:bodyPr wrap="square" anchor="t" lIns="45720" rIns="45720">
            <a:spAutoFit/>
          </a:bodyPr>
          <a:lstStyle/>
          <a:p>
            <a:pPr algn="ctr">
              <a:spcAft>
                <a:spcPts val="400"/>
              </a:spcAft>
            </a:pPr>
            <a:r>
              <a:rPr sz="2000" b="1" i="0">
                <a:solidFill>
                  <a:srgbClr val="1B3F8B"/>
                </a:solidFill>
                <a:latin typeface="Times New Roman"/>
              </a:rPr>
              <a:t>Restaurant</a:t>
            </a:r>
          </a:p>
        </p:txBody>
      </p:sp>
      <p:sp>
        <p:nvSpPr>
          <p:cNvPr id="18" name="TextBox 17"/>
          <p:cNvSpPr txBox="1"/>
          <p:nvPr/>
        </p:nvSpPr>
        <p:spPr>
          <a:xfrm>
            <a:off x="3776472" y="2971800"/>
            <a:ext cx="2560320" cy="4114800"/>
          </a:xfrm>
          <a:prstGeom prst="rect">
            <a:avLst/>
          </a:prstGeom>
          <a:noFill/>
        </p:spPr>
        <p:txBody>
          <a:bodyPr wrap="square" anchor="t" lIns="45720" rIns="45720">
            <a:spAutoFit/>
          </a:bodyPr>
          <a:lstStyle/>
          <a:p>
            <a:pPr algn="l" marL="228600" indent="-228600">
              <a:spcAft>
                <a:spcPts val="900"/>
              </a:spcAft>
              <a:buClr>
                <a:srgbClr val="FF6600"/>
              </a:buClr>
              <a:buFont typeface="Arial"/>
              <a:buChar char="▪"/>
            </a:pPr>
            <a:r>
              <a:rPr sz="1500" b="0" i="0">
                <a:solidFill>
                  <a:srgbClr val="222222"/>
                </a:solidFill>
                <a:latin typeface="Times New Roman"/>
              </a:rPr>
              <a:t>Access to own restaurant only</a:t>
            </a:r>
          </a:p>
          <a:p>
            <a:pPr algn="l" marL="228600" indent="-228600">
              <a:spcAft>
                <a:spcPts val="900"/>
              </a:spcAft>
              <a:buClr>
                <a:srgbClr val="FF6600"/>
              </a:buClr>
              <a:buFont typeface="Arial"/>
              <a:buChar char="▪"/>
            </a:pPr>
            <a:r>
              <a:rPr sz="1500" b="0" i="0">
                <a:solidFill>
                  <a:srgbClr val="222222"/>
                </a:solidFill>
                <a:latin typeface="Times New Roman"/>
              </a:rPr>
              <a:t>Add full dish list once</a:t>
            </a:r>
          </a:p>
          <a:p>
            <a:pPr algn="l" marL="228600" indent="-228600">
              <a:spcAft>
                <a:spcPts val="900"/>
              </a:spcAft>
              <a:buClr>
                <a:srgbClr val="FF6600"/>
              </a:buClr>
              <a:buFont typeface="Arial"/>
              <a:buChar char="▪"/>
            </a:pPr>
            <a:r>
              <a:rPr sz="1500" b="0" i="0">
                <a:solidFill>
                  <a:srgbClr val="222222"/>
                </a:solidFill>
                <a:latin typeface="Times New Roman"/>
              </a:rPr>
              <a:t>Mark dishes available / unavailable daily</a:t>
            </a:r>
          </a:p>
          <a:p>
            <a:pPr algn="l" marL="228600" indent="-228600">
              <a:spcAft>
                <a:spcPts val="900"/>
              </a:spcAft>
              <a:buClr>
                <a:srgbClr val="FF6600"/>
              </a:buClr>
              <a:buFont typeface="Arial"/>
              <a:buChar char="▪"/>
            </a:pPr>
            <a:r>
              <a:rPr sz="1500" b="0" i="0">
                <a:solidFill>
                  <a:srgbClr val="222222"/>
                </a:solidFill>
                <a:latin typeface="Times New Roman"/>
              </a:rPr>
              <a:t>Receive orders live</a:t>
            </a:r>
          </a:p>
          <a:p>
            <a:pPr algn="l" marL="228600" indent="-228600">
              <a:spcAft>
                <a:spcPts val="900"/>
              </a:spcAft>
              <a:buClr>
                <a:srgbClr val="FF6600"/>
              </a:buClr>
              <a:buFont typeface="Arial"/>
              <a:buChar char="▪"/>
            </a:pPr>
            <a:r>
              <a:rPr sz="1500" b="0" i="0">
                <a:solidFill>
                  <a:srgbClr val="222222"/>
                </a:solidFill>
                <a:latin typeface="Times New Roman"/>
              </a:rPr>
              <a:t>Update status: Preparing → Ready</a:t>
            </a:r>
          </a:p>
          <a:p>
            <a:pPr algn="l" marL="228600" indent="-228600">
              <a:spcAft>
                <a:spcPts val="900"/>
              </a:spcAft>
              <a:buClr>
                <a:srgbClr val="FF6600"/>
              </a:buClr>
              <a:buFont typeface="Arial"/>
              <a:buChar char="▪"/>
            </a:pPr>
            <a:r>
              <a:rPr sz="1500" b="0" i="0">
                <a:solidFill>
                  <a:srgbClr val="222222"/>
                </a:solidFill>
                <a:latin typeface="Times New Roman"/>
              </a:rPr>
              <a:t>Verify Order ID + OTP</a:t>
            </a:r>
          </a:p>
          <a:p>
            <a:pPr algn="l" marL="228600" indent="-228600">
              <a:spcAft>
                <a:spcPts val="900"/>
              </a:spcAft>
              <a:buClr>
                <a:srgbClr val="FF6600"/>
              </a:buClr>
              <a:buFont typeface="Arial"/>
              <a:buChar char="▪"/>
            </a:pPr>
            <a:r>
              <a:rPr sz="1500" b="0" i="0">
                <a:solidFill>
                  <a:srgbClr val="222222"/>
                </a:solidFill>
                <a:latin typeface="Times New Roman"/>
              </a:rPr>
              <a:t>Mark order Collected</a:t>
            </a:r>
          </a:p>
        </p:txBody>
      </p:sp>
      <p:sp>
        <p:nvSpPr>
          <p:cNvPr id="19" name="Rounded Rectangle 18"/>
          <p:cNvSpPr/>
          <p:nvPr/>
        </p:nvSpPr>
        <p:spPr>
          <a:xfrm>
            <a:off x="6638544" y="1508760"/>
            <a:ext cx="2834640" cy="562356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690104" y="1645920"/>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FFFFFF"/>
                </a:solidFill>
                <a:latin typeface="Times New Roman"/>
              </a:rPr>
              <a:t>A</a:t>
            </a:r>
          </a:p>
        </p:txBody>
      </p:sp>
      <p:sp>
        <p:nvSpPr>
          <p:cNvPr id="21" name="TextBox 20"/>
          <p:cNvSpPr txBox="1"/>
          <p:nvPr/>
        </p:nvSpPr>
        <p:spPr>
          <a:xfrm>
            <a:off x="6729983" y="2450592"/>
            <a:ext cx="2651760" cy="411480"/>
          </a:xfrm>
          <a:prstGeom prst="rect">
            <a:avLst/>
          </a:prstGeom>
          <a:noFill/>
        </p:spPr>
        <p:txBody>
          <a:bodyPr wrap="square" anchor="t" lIns="45720" rIns="45720">
            <a:spAutoFit/>
          </a:bodyPr>
          <a:lstStyle/>
          <a:p>
            <a:pPr algn="ctr">
              <a:spcAft>
                <a:spcPts val="400"/>
              </a:spcAft>
            </a:pPr>
            <a:r>
              <a:rPr sz="2000" b="1" i="0">
                <a:solidFill>
                  <a:srgbClr val="FF6600"/>
                </a:solidFill>
                <a:latin typeface="Times New Roman"/>
              </a:rPr>
              <a:t>Admin (hidden)</a:t>
            </a:r>
          </a:p>
        </p:txBody>
      </p:sp>
      <p:sp>
        <p:nvSpPr>
          <p:cNvPr id="22" name="TextBox 21"/>
          <p:cNvSpPr txBox="1"/>
          <p:nvPr/>
        </p:nvSpPr>
        <p:spPr>
          <a:xfrm>
            <a:off x="6821424" y="2971800"/>
            <a:ext cx="2560320" cy="4114800"/>
          </a:xfrm>
          <a:prstGeom prst="rect">
            <a:avLst/>
          </a:prstGeom>
          <a:noFill/>
        </p:spPr>
        <p:txBody>
          <a:bodyPr wrap="square" anchor="t" lIns="45720" rIns="45720">
            <a:spAutoFit/>
          </a:bodyPr>
          <a:lstStyle/>
          <a:p>
            <a:pPr algn="l" marL="228600" indent="-228600">
              <a:spcAft>
                <a:spcPts val="900"/>
              </a:spcAft>
              <a:buClr>
                <a:srgbClr val="FF6600"/>
              </a:buClr>
              <a:buFont typeface="Arial"/>
              <a:buChar char="▪"/>
            </a:pPr>
            <a:r>
              <a:rPr sz="1500" b="0" i="0">
                <a:solidFill>
                  <a:srgbClr val="222222"/>
                </a:solidFill>
                <a:latin typeface="Times New Roman"/>
              </a:rPr>
              <a:t>Not visible to anyone</a:t>
            </a:r>
          </a:p>
          <a:p>
            <a:pPr algn="l" marL="228600" indent="-228600">
              <a:spcAft>
                <a:spcPts val="900"/>
              </a:spcAft>
              <a:buClr>
                <a:srgbClr val="FF6600"/>
              </a:buClr>
              <a:buFont typeface="Arial"/>
              <a:buChar char="▪"/>
            </a:pPr>
            <a:r>
              <a:rPr sz="1500" b="0" i="0">
                <a:solidFill>
                  <a:srgbClr val="222222"/>
                </a:solidFill>
                <a:latin typeface="Times New Roman"/>
              </a:rPr>
              <a:t>Logs in via hidden URL only</a:t>
            </a:r>
          </a:p>
          <a:p>
            <a:pPr algn="l" marL="228600" indent="-228600">
              <a:spcAft>
                <a:spcPts val="900"/>
              </a:spcAft>
              <a:buClr>
                <a:srgbClr val="FF6600"/>
              </a:buClr>
              <a:buFont typeface="Arial"/>
              <a:buChar char="▪"/>
            </a:pPr>
            <a:r>
              <a:rPr sz="1500" b="0" i="0">
                <a:solidFill>
                  <a:srgbClr val="222222"/>
                </a:solidFill>
                <a:latin typeface="Times New Roman"/>
              </a:rPr>
              <a:t>Add / remove restaurants</a:t>
            </a:r>
          </a:p>
          <a:p>
            <a:pPr algn="l" marL="228600" indent="-228600">
              <a:spcAft>
                <a:spcPts val="900"/>
              </a:spcAft>
              <a:buClr>
                <a:srgbClr val="FF6600"/>
              </a:buClr>
              <a:buFont typeface="Arial"/>
              <a:buChar char="▪"/>
            </a:pPr>
            <a:r>
              <a:rPr sz="1500" b="0" i="0">
                <a:solidFill>
                  <a:srgbClr val="222222"/>
                </a:solidFill>
                <a:latin typeface="Times New Roman"/>
              </a:rPr>
              <a:t>Create restaurant logins</a:t>
            </a:r>
          </a:p>
          <a:p>
            <a:pPr algn="l" marL="228600" indent="-228600">
              <a:spcAft>
                <a:spcPts val="900"/>
              </a:spcAft>
              <a:buClr>
                <a:srgbClr val="FF6600"/>
              </a:buClr>
              <a:buFont typeface="Arial"/>
              <a:buChar char="▪"/>
            </a:pPr>
            <a:r>
              <a:rPr sz="1500" b="0" i="0">
                <a:solidFill>
                  <a:srgbClr val="222222"/>
                </a:solidFill>
                <a:latin typeface="Times New Roman"/>
              </a:rPr>
              <a:t>Manage all dishes &amp; users</a:t>
            </a:r>
          </a:p>
          <a:p>
            <a:pPr algn="l" marL="228600" indent="-228600">
              <a:spcAft>
                <a:spcPts val="900"/>
              </a:spcAft>
              <a:buClr>
                <a:srgbClr val="FF6600"/>
              </a:buClr>
              <a:buFont typeface="Arial"/>
              <a:buChar char="▪"/>
            </a:pPr>
            <a:r>
              <a:rPr sz="1500" b="0" i="0">
                <a:solidFill>
                  <a:srgbClr val="222222"/>
                </a:solidFill>
                <a:latin typeface="Times New Roman"/>
              </a:rPr>
              <a:t>View all orders</a:t>
            </a:r>
          </a:p>
          <a:p>
            <a:pPr algn="l" marL="228600" indent="-228600">
              <a:spcAft>
                <a:spcPts val="900"/>
              </a:spcAft>
              <a:buClr>
                <a:srgbClr val="FF6600"/>
              </a:buClr>
              <a:buFont typeface="Arial"/>
              <a:buChar char="▪"/>
            </a:pPr>
            <a:r>
              <a:rPr sz="1500" b="0" i="0">
                <a:solidFill>
                  <a:srgbClr val="222222"/>
                </a:solidFill>
                <a:latin typeface="Times New Roman"/>
              </a:rPr>
              <a:t>Reports: sales &amp; popular dishes</a:t>
            </a:r>
          </a:p>
        </p:txBody>
      </p:sp>
    </p:spTree>
    <p:extLst>
      <p:ext uri="{BB962C8B-B14F-4D97-AF65-F5344CB8AC3E}">
        <p14:creationId xmlns:p14="http://schemas.microsoft.com/office/powerpoint/2010/main" val="4190210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Implementation – Services</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548640" y="1463040"/>
            <a:ext cx="8961120" cy="685800"/>
          </a:xfrm>
          <a:prstGeom prst="rect">
            <a:avLst/>
          </a:prstGeom>
          <a:noFill/>
        </p:spPr>
        <p:txBody>
          <a:bodyPr wrap="square" anchor="t" lIns="45720" rIns="45720">
            <a:spAutoFit/>
          </a:bodyPr>
          <a:lstStyle/>
          <a:p>
            <a:pPr algn="l">
              <a:spcAft>
                <a:spcPts val="400"/>
              </a:spcAft>
            </a:pPr>
            <a:r>
              <a:rPr sz="1700" b="0" i="0">
                <a:solidFill>
                  <a:srgbClr val="222222"/>
                </a:solidFill>
                <a:latin typeface="Times New Roman"/>
              </a:rPr>
              <a:t>Each microservice is a separate Spring Boot project created with Spring Initializr and runs on its own port:</a:t>
            </a:r>
          </a:p>
        </p:txBody>
      </p:sp>
      <p:graphicFrame>
        <p:nvGraphicFramePr>
          <p:cNvPr id="12" name="Table 11"/>
          <p:cNvGraphicFramePr>
            <a:graphicFrameLocks noGrp="1"/>
          </p:cNvGraphicFramePr>
          <p:nvPr/>
        </p:nvGraphicFramePr>
        <p:xfrm>
          <a:off x="548640" y="2194560"/>
          <a:ext cx="8961120" cy="3072384"/>
        </p:xfrm>
        <a:graphic>
          <a:graphicData uri="http://schemas.openxmlformats.org/drawingml/2006/table">
            <a:tbl>
              <a:tblPr firstRow="1" bandRow="1">
                <a:tableStyleId>{5C22544A-7EE6-4342-B048-85BDC9FD1C3A}</a:tableStyleId>
              </a:tblPr>
              <a:tblGrid>
                <a:gridCol w="2011680"/>
                <a:gridCol w="822960"/>
                <a:gridCol w="4480560"/>
                <a:gridCol w="1645920"/>
              </a:tblGrid>
              <a:tr h="512064">
                <a:tc>
                  <a:txBody>
                    <a:bodyPr wrap="square"/>
                    <a:lstStyle/>
                    <a:p>
                      <a:r>
                        <a:rPr sz="1500" b="1" i="0">
                          <a:solidFill>
                            <a:srgbClr val="FFFFFF"/>
                          </a:solidFill>
                          <a:latin typeface="Times New Roman"/>
                        </a:rPr>
                        <a:t>Microservice</a:t>
                      </a:r>
                    </a:p>
                  </a:txBody>
                  <a:tcPr anchor="ctr" marL="73152" marR="73152" marT="27432" marB="27432">
                    <a:solidFill>
                      <a:srgbClr val="1B3F8B"/>
                    </a:solidFill>
                  </a:tcPr>
                </a:tc>
                <a:tc>
                  <a:txBody>
                    <a:bodyPr wrap="square"/>
                    <a:lstStyle/>
                    <a:p>
                      <a:r>
                        <a:rPr sz="1500" b="1" i="0">
                          <a:solidFill>
                            <a:srgbClr val="FFFFFF"/>
                          </a:solidFill>
                          <a:latin typeface="Times New Roman"/>
                        </a:rPr>
                        <a:t>Port</a:t>
                      </a:r>
                    </a:p>
                  </a:txBody>
                  <a:tcPr anchor="ctr" marL="73152" marR="73152" marT="27432" marB="27432">
                    <a:solidFill>
                      <a:srgbClr val="1B3F8B"/>
                    </a:solidFill>
                  </a:tcPr>
                </a:tc>
                <a:tc>
                  <a:txBody>
                    <a:bodyPr wrap="square"/>
                    <a:lstStyle/>
                    <a:p>
                      <a:r>
                        <a:rPr sz="1500" b="1" i="0">
                          <a:solidFill>
                            <a:srgbClr val="FFFFFF"/>
                          </a:solidFill>
                          <a:latin typeface="Times New Roman"/>
                        </a:rPr>
                        <a:t>Responsibility</a:t>
                      </a:r>
                    </a:p>
                  </a:txBody>
                  <a:tcPr anchor="ctr" marL="73152" marR="73152" marT="27432" marB="27432">
                    <a:solidFill>
                      <a:srgbClr val="1B3F8B"/>
                    </a:solidFill>
                  </a:tcPr>
                </a:tc>
                <a:tc>
                  <a:txBody>
                    <a:bodyPr wrap="square"/>
                    <a:lstStyle/>
                    <a:p>
                      <a:r>
                        <a:rPr sz="1500" b="1" i="0">
                          <a:solidFill>
                            <a:srgbClr val="FFFFFF"/>
                          </a:solidFill>
                          <a:latin typeface="Times New Roman"/>
                        </a:rPr>
                        <a:t>Database</a:t>
                      </a:r>
                    </a:p>
                  </a:txBody>
                  <a:tcPr anchor="ctr" marL="73152" marR="73152" marT="27432" marB="27432">
                    <a:solidFill>
                      <a:srgbClr val="1B3F8B"/>
                    </a:solidFill>
                  </a:tcPr>
                </a:tc>
              </a:tr>
              <a:tr h="512064">
                <a:tc>
                  <a:txBody>
                    <a:bodyPr wrap="square"/>
                    <a:lstStyle/>
                    <a:p>
                      <a:r>
                        <a:rPr sz="1500" b="1" i="0">
                          <a:solidFill>
                            <a:srgbClr val="222222"/>
                          </a:solidFill>
                          <a:latin typeface="Times New Roman"/>
                        </a:rPr>
                        <a:t>Eureka Server</a:t>
                      </a:r>
                    </a:p>
                  </a:txBody>
                  <a:tcPr anchor="ctr" marL="73152" marR="73152" marT="27432" marB="27432">
                    <a:solidFill>
                      <a:srgbClr val="FFFFFF"/>
                    </a:solidFill>
                  </a:tcPr>
                </a:tc>
                <a:tc>
                  <a:txBody>
                    <a:bodyPr wrap="square"/>
                    <a:lstStyle/>
                    <a:p>
                      <a:r>
                        <a:rPr sz="1500" b="0" i="0">
                          <a:solidFill>
                            <a:srgbClr val="222222"/>
                          </a:solidFill>
                          <a:latin typeface="Times New Roman"/>
                        </a:rPr>
                        <a:t>8761</a:t>
                      </a:r>
                    </a:p>
                  </a:txBody>
                  <a:tcPr anchor="ctr" marL="73152" marR="73152" marT="27432" marB="27432">
                    <a:solidFill>
                      <a:srgbClr val="FFFFFF"/>
                    </a:solidFill>
                  </a:tcPr>
                </a:tc>
                <a:tc>
                  <a:txBody>
                    <a:bodyPr wrap="square"/>
                    <a:lstStyle/>
                    <a:p>
                      <a:r>
                        <a:rPr sz="1500" b="0" i="0">
                          <a:solidFill>
                            <a:srgbClr val="222222"/>
                          </a:solidFill>
                          <a:latin typeface="Times New Roman"/>
                        </a:rPr>
                        <a:t>Service registry and discovery</a:t>
                      </a:r>
                    </a:p>
                  </a:txBody>
                  <a:tcPr anchor="ctr" marL="73152" marR="73152" marT="27432" marB="27432">
                    <a:solidFill>
                      <a:srgbClr val="FFFFFF"/>
                    </a:solidFill>
                  </a:tcPr>
                </a:tc>
                <a:tc>
                  <a:txBody>
                    <a:bodyPr wrap="square"/>
                    <a:lstStyle/>
                    <a:p>
                      <a:r>
                        <a:rPr sz="1500" b="0" i="0">
                          <a:solidFill>
                            <a:srgbClr val="222222"/>
                          </a:solidFill>
                          <a:latin typeface="Times New Roman"/>
                        </a:rPr>
                        <a:t>–</a:t>
                      </a:r>
                    </a:p>
                  </a:txBody>
                  <a:tcPr anchor="ctr" marL="73152" marR="73152" marT="27432" marB="27432">
                    <a:solidFill>
                      <a:srgbClr val="FFFFFF"/>
                    </a:solidFill>
                  </a:tcPr>
                </a:tc>
              </a:tr>
              <a:tr h="512064">
                <a:tc>
                  <a:txBody>
                    <a:bodyPr wrap="square"/>
                    <a:lstStyle/>
                    <a:p>
                      <a:r>
                        <a:rPr sz="1500" b="1" i="0">
                          <a:solidFill>
                            <a:srgbClr val="222222"/>
                          </a:solidFill>
                          <a:latin typeface="Times New Roman"/>
                        </a:rPr>
                        <a:t>API Gateway</a:t>
                      </a:r>
                    </a:p>
                  </a:txBody>
                  <a:tcPr anchor="ctr" marL="73152" marR="73152" marT="27432" marB="27432">
                    <a:solidFill>
                      <a:srgbClr val="FFF0E5"/>
                    </a:solidFill>
                  </a:tcPr>
                </a:tc>
                <a:tc>
                  <a:txBody>
                    <a:bodyPr wrap="square"/>
                    <a:lstStyle/>
                    <a:p>
                      <a:r>
                        <a:rPr sz="1500" b="0" i="0">
                          <a:solidFill>
                            <a:srgbClr val="222222"/>
                          </a:solidFill>
                          <a:latin typeface="Times New Roman"/>
                        </a:rPr>
                        <a:t>8080</a:t>
                      </a:r>
                    </a:p>
                  </a:txBody>
                  <a:tcPr anchor="ctr" marL="73152" marR="73152" marT="27432" marB="27432">
                    <a:solidFill>
                      <a:srgbClr val="FFF0E5"/>
                    </a:solidFill>
                  </a:tcPr>
                </a:tc>
                <a:tc>
                  <a:txBody>
                    <a:bodyPr wrap="square"/>
                    <a:lstStyle/>
                    <a:p>
                      <a:r>
                        <a:rPr sz="1500" b="0" i="0">
                          <a:solidFill>
                            <a:srgbClr val="222222"/>
                          </a:solidFill>
                          <a:latin typeface="Times New Roman"/>
                        </a:rPr>
                        <a:t>Single entry point, routing, JWT and role check</a:t>
                      </a:r>
                    </a:p>
                  </a:txBody>
                  <a:tcPr anchor="ctr" marL="73152" marR="73152" marT="27432" marB="27432">
                    <a:solidFill>
                      <a:srgbClr val="FFF0E5"/>
                    </a:solidFill>
                  </a:tcPr>
                </a:tc>
                <a:tc>
                  <a:txBody>
                    <a:bodyPr wrap="square"/>
                    <a:lstStyle/>
                    <a:p>
                      <a:r>
                        <a:rPr sz="1500" b="0" i="0">
                          <a:solidFill>
                            <a:srgbClr val="222222"/>
                          </a:solidFill>
                          <a:latin typeface="Times New Roman"/>
                        </a:rPr>
                        <a:t>–</a:t>
                      </a:r>
                    </a:p>
                  </a:txBody>
                  <a:tcPr anchor="ctr" marL="73152" marR="73152" marT="27432" marB="27432">
                    <a:solidFill>
                      <a:srgbClr val="FFF0E5"/>
                    </a:solidFill>
                  </a:tcPr>
                </a:tc>
              </a:tr>
              <a:tr h="512064">
                <a:tc>
                  <a:txBody>
                    <a:bodyPr wrap="square"/>
                    <a:lstStyle/>
                    <a:p>
                      <a:r>
                        <a:rPr sz="1500" b="1" i="0">
                          <a:solidFill>
                            <a:srgbClr val="222222"/>
                          </a:solidFill>
                          <a:latin typeface="Times New Roman"/>
                        </a:rPr>
                        <a:t>Auth Service</a:t>
                      </a:r>
                    </a:p>
                  </a:txBody>
                  <a:tcPr anchor="ctr" marL="73152" marR="73152" marT="27432" marB="27432">
                    <a:solidFill>
                      <a:srgbClr val="FFFFFF"/>
                    </a:solidFill>
                  </a:tcPr>
                </a:tc>
                <a:tc>
                  <a:txBody>
                    <a:bodyPr wrap="square"/>
                    <a:lstStyle/>
                    <a:p>
                      <a:r>
                        <a:rPr sz="1500" b="0" i="0">
                          <a:solidFill>
                            <a:srgbClr val="222222"/>
                          </a:solidFill>
                          <a:latin typeface="Times New Roman"/>
                        </a:rPr>
                        <a:t>8081</a:t>
                      </a:r>
                    </a:p>
                  </a:txBody>
                  <a:tcPr anchor="ctr" marL="73152" marR="73152" marT="27432" marB="27432">
                    <a:solidFill>
                      <a:srgbClr val="FFFFFF"/>
                    </a:solidFill>
                  </a:tcPr>
                </a:tc>
                <a:tc>
                  <a:txBody>
                    <a:bodyPr wrap="square"/>
                    <a:lstStyle/>
                    <a:p>
                      <a:r>
                        <a:rPr sz="1500" b="0" i="0">
                          <a:solidFill>
                            <a:srgbClr val="222222"/>
                          </a:solidFill>
                          <a:latin typeface="Times New Roman"/>
                        </a:rPr>
                        <a:t>Register, login, JWT, roles (STUDENT / RESTAURANT / ADMIN)</a:t>
                      </a:r>
                    </a:p>
                  </a:txBody>
                  <a:tcPr anchor="ctr" marL="73152" marR="73152" marT="27432" marB="27432">
                    <a:solidFill>
                      <a:srgbClr val="FFFFFF"/>
                    </a:solidFill>
                  </a:tcPr>
                </a:tc>
                <a:tc>
                  <a:txBody>
                    <a:bodyPr wrap="square"/>
                    <a:lstStyle/>
                    <a:p>
                      <a:r>
                        <a:rPr sz="1500" b="0" i="0">
                          <a:solidFill>
                            <a:srgbClr val="222222"/>
                          </a:solidFill>
                          <a:latin typeface="Times New Roman"/>
                        </a:rPr>
                        <a:t>auth_db</a:t>
                      </a:r>
                    </a:p>
                  </a:txBody>
                  <a:tcPr anchor="ctr" marL="73152" marR="73152" marT="27432" marB="27432">
                    <a:solidFill>
                      <a:srgbClr val="FFFFFF"/>
                    </a:solidFill>
                  </a:tcPr>
                </a:tc>
              </a:tr>
              <a:tr h="512064">
                <a:tc>
                  <a:txBody>
                    <a:bodyPr wrap="square"/>
                    <a:lstStyle/>
                    <a:p>
                      <a:r>
                        <a:rPr sz="1500" b="1" i="0">
                          <a:solidFill>
                            <a:srgbClr val="222222"/>
                          </a:solidFill>
                          <a:latin typeface="Times New Roman"/>
                        </a:rPr>
                        <a:t>Restaurant Service</a:t>
                      </a:r>
                    </a:p>
                  </a:txBody>
                  <a:tcPr anchor="ctr" marL="73152" marR="73152" marT="27432" marB="27432">
                    <a:solidFill>
                      <a:srgbClr val="FFF0E5"/>
                    </a:solidFill>
                  </a:tcPr>
                </a:tc>
                <a:tc>
                  <a:txBody>
                    <a:bodyPr wrap="square"/>
                    <a:lstStyle/>
                    <a:p>
                      <a:r>
                        <a:rPr sz="1500" b="0" i="0">
                          <a:solidFill>
                            <a:srgbClr val="222222"/>
                          </a:solidFill>
                          <a:latin typeface="Times New Roman"/>
                        </a:rPr>
                        <a:t>8082</a:t>
                      </a:r>
                    </a:p>
                  </a:txBody>
                  <a:tcPr anchor="ctr" marL="73152" marR="73152" marT="27432" marB="27432">
                    <a:solidFill>
                      <a:srgbClr val="FFF0E5"/>
                    </a:solidFill>
                  </a:tcPr>
                </a:tc>
                <a:tc>
                  <a:txBody>
                    <a:bodyPr wrap="square"/>
                    <a:lstStyle/>
                    <a:p>
                      <a:r>
                        <a:rPr sz="1500" b="0" i="0">
                          <a:solidFill>
                            <a:srgbClr val="222222"/>
                          </a:solidFill>
                          <a:latin typeface="Times New Roman"/>
                        </a:rPr>
                        <a:t>Restaurants, dishes, daily availability</a:t>
                      </a:r>
                    </a:p>
                  </a:txBody>
                  <a:tcPr anchor="ctr" marL="73152" marR="73152" marT="27432" marB="27432">
                    <a:solidFill>
                      <a:srgbClr val="FFF0E5"/>
                    </a:solidFill>
                  </a:tcPr>
                </a:tc>
                <a:tc>
                  <a:txBody>
                    <a:bodyPr wrap="square"/>
                    <a:lstStyle/>
                    <a:p>
                      <a:r>
                        <a:rPr sz="1500" b="0" i="0">
                          <a:solidFill>
                            <a:srgbClr val="222222"/>
                          </a:solidFill>
                          <a:latin typeface="Times New Roman"/>
                        </a:rPr>
                        <a:t>restaurant_db</a:t>
                      </a:r>
                    </a:p>
                  </a:txBody>
                  <a:tcPr anchor="ctr" marL="73152" marR="73152" marT="27432" marB="27432">
                    <a:solidFill>
                      <a:srgbClr val="FFF0E5"/>
                    </a:solidFill>
                  </a:tcPr>
                </a:tc>
              </a:tr>
              <a:tr h="512064">
                <a:tc>
                  <a:txBody>
                    <a:bodyPr wrap="square"/>
                    <a:lstStyle/>
                    <a:p>
                      <a:r>
                        <a:rPr sz="1500" b="1" i="0">
                          <a:solidFill>
                            <a:srgbClr val="222222"/>
                          </a:solidFill>
                          <a:latin typeface="Times New Roman"/>
                        </a:rPr>
                        <a:t>Order Service</a:t>
                      </a:r>
                    </a:p>
                  </a:txBody>
                  <a:tcPr anchor="ctr" marL="73152" marR="73152" marT="27432" marB="27432">
                    <a:solidFill>
                      <a:srgbClr val="FFFFFF"/>
                    </a:solidFill>
                  </a:tcPr>
                </a:tc>
                <a:tc>
                  <a:txBody>
                    <a:bodyPr wrap="square"/>
                    <a:lstStyle/>
                    <a:p>
                      <a:r>
                        <a:rPr sz="1500" b="0" i="0">
                          <a:solidFill>
                            <a:srgbClr val="222222"/>
                          </a:solidFill>
                          <a:latin typeface="Times New Roman"/>
                        </a:rPr>
                        <a:t>8083</a:t>
                      </a:r>
                    </a:p>
                  </a:txBody>
                  <a:tcPr anchor="ctr" marL="73152" marR="73152" marT="27432" marB="27432">
                    <a:solidFill>
                      <a:srgbClr val="FFFFFF"/>
                    </a:solidFill>
                  </a:tcPr>
                </a:tc>
                <a:tc>
                  <a:txBody>
                    <a:bodyPr wrap="square"/>
                    <a:lstStyle/>
                    <a:p>
                      <a:r>
                        <a:rPr sz="1500" b="0" i="0">
                          <a:solidFill>
                            <a:srgbClr val="222222"/>
                          </a:solidFill>
                          <a:latin typeface="Times New Roman"/>
                        </a:rPr>
                        <a:t>Orders, Order ID &amp; OTP generation, status, OTP verification</a:t>
                      </a:r>
                    </a:p>
                  </a:txBody>
                  <a:tcPr anchor="ctr" marL="73152" marR="73152" marT="27432" marB="27432">
                    <a:solidFill>
                      <a:srgbClr val="FFFFFF"/>
                    </a:solidFill>
                  </a:tcPr>
                </a:tc>
                <a:tc>
                  <a:txBody>
                    <a:bodyPr wrap="square"/>
                    <a:lstStyle/>
                    <a:p>
                      <a:r>
                        <a:rPr sz="1500" b="0" i="0">
                          <a:solidFill>
                            <a:srgbClr val="222222"/>
                          </a:solidFill>
                          <a:latin typeface="Times New Roman"/>
                        </a:rPr>
                        <a:t>order_db</a:t>
                      </a:r>
                    </a:p>
                  </a:txBody>
                  <a:tcPr anchor="ctr" marL="73152" marR="73152" marT="27432" marB="27432">
                    <a:solidFill>
                      <a:srgbClr val="FFFFFF"/>
                    </a:solidFill>
                  </a:tcPr>
                </a:tc>
              </a:tr>
            </a:tbl>
          </a:graphicData>
        </a:graphic>
      </p:graphicFrame>
      <p:sp>
        <p:nvSpPr>
          <p:cNvPr id="13" name="Rounded Rectangle 12"/>
          <p:cNvSpPr/>
          <p:nvPr/>
        </p:nvSpPr>
        <p:spPr>
          <a:xfrm>
            <a:off x="548640" y="5760720"/>
            <a:ext cx="8961120" cy="137160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5833872"/>
            <a:ext cx="8503920" cy="1261872"/>
          </a:xfrm>
          <a:prstGeom prst="rect">
            <a:avLst/>
          </a:prstGeom>
          <a:noFill/>
        </p:spPr>
        <p:txBody>
          <a:bodyPr wrap="square" anchor="t" lIns="45720" rIns="45720">
            <a:spAutoFit/>
          </a:bodyPr>
          <a:lstStyle/>
          <a:p>
            <a:pPr algn="l">
              <a:spcAft>
                <a:spcPts val="800"/>
              </a:spcAft>
            </a:pPr>
            <a:r>
              <a:rPr sz="1600" b="1" i="0">
                <a:solidFill>
                  <a:srgbClr val="1B3F8B"/>
                </a:solidFill>
                <a:latin typeface="Times New Roman"/>
              </a:rPr>
              <a:t>Database per service: </a:t>
            </a:r>
            <a:r>
              <a:rPr sz="1600" b="0" i="0">
                <a:solidFill>
                  <a:srgbClr val="222222"/>
                </a:solidFill>
                <a:latin typeface="Times New Roman"/>
              </a:rPr>
              <a:t>every service owns its data and shares it only through REST APIs.</a:t>
            </a:r>
          </a:p>
          <a:p>
            <a:pPr algn="l">
              <a:spcAft>
                <a:spcPts val="800"/>
              </a:spcAft>
            </a:pPr>
            <a:r>
              <a:rPr sz="1600" b="1" i="0">
                <a:solidFill>
                  <a:srgbClr val="1B3F8B"/>
                </a:solidFill>
                <a:latin typeface="Times New Roman"/>
              </a:rPr>
              <a:t>Frontend: </a:t>
            </a:r>
            <a:r>
              <a:rPr sz="1600" b="0" i="0">
                <a:solidFill>
                  <a:srgbClr val="222222"/>
                </a:solidFill>
                <a:latin typeface="Times New Roman"/>
              </a:rPr>
              <a:t>React (Vite) + Tailwind CSS app calls only the API Gateway using Axios.</a:t>
            </a:r>
          </a:p>
          <a:p>
            <a:pPr algn="l">
              <a:spcAft>
                <a:spcPts val="800"/>
              </a:spcAft>
            </a:pPr>
            <a:r>
              <a:rPr sz="1600" b="1" i="0">
                <a:solidFill>
                  <a:srgbClr val="1B3F8B"/>
                </a:solidFill>
                <a:latin typeface="Times New Roman"/>
              </a:rPr>
              <a:t>API docs: </a:t>
            </a:r>
            <a:r>
              <a:rPr sz="1600" b="0" i="0">
                <a:solidFill>
                  <a:srgbClr val="222222"/>
                </a:solidFill>
                <a:latin typeface="Times New Roman"/>
              </a:rPr>
              <a:t>Swagger UI for every service; Resilience4j circuit breaker on service-to-service calls.</a:t>
            </a:r>
          </a:p>
        </p:txBody>
      </p:sp>
    </p:spTree>
    <p:extLst>
      <p:ext uri="{BB962C8B-B14F-4D97-AF65-F5344CB8AC3E}">
        <p14:creationId xmlns:p14="http://schemas.microsoft.com/office/powerpoint/2010/main" val="419021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Implementation – Order Flow</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6002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85800" y="17373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1</a:t>
            </a:r>
          </a:p>
        </p:txBody>
      </p:sp>
      <p:sp>
        <p:nvSpPr>
          <p:cNvPr id="13" name="TextBox 12"/>
          <p:cNvSpPr txBox="1"/>
          <p:nvPr/>
        </p:nvSpPr>
        <p:spPr>
          <a:xfrm>
            <a:off x="1207007" y="17556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Student</a:t>
            </a:r>
          </a:p>
        </p:txBody>
      </p:sp>
      <p:sp>
        <p:nvSpPr>
          <p:cNvPr id="14" name="TextBox 13"/>
          <p:cNvSpPr txBox="1"/>
          <p:nvPr/>
        </p:nvSpPr>
        <p:spPr>
          <a:xfrm>
            <a:off x="685800" y="23317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Logs in and selects a restaurant</a:t>
            </a:r>
          </a:p>
        </p:txBody>
      </p:sp>
      <p:cxnSp>
        <p:nvCxnSpPr>
          <p:cNvPr id="15" name="Connector 14"/>
          <p:cNvCxnSpPr/>
          <p:nvPr/>
        </p:nvCxnSpPr>
        <p:spPr>
          <a:xfrm>
            <a:off x="2560320" y="26289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80360" y="16002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017520" y="17373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2</a:t>
            </a:r>
          </a:p>
        </p:txBody>
      </p:sp>
      <p:sp>
        <p:nvSpPr>
          <p:cNvPr id="18" name="TextBox 17"/>
          <p:cNvSpPr txBox="1"/>
          <p:nvPr/>
        </p:nvSpPr>
        <p:spPr>
          <a:xfrm>
            <a:off x="3538728" y="17556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Student</a:t>
            </a:r>
          </a:p>
        </p:txBody>
      </p:sp>
      <p:sp>
        <p:nvSpPr>
          <p:cNvPr id="19" name="TextBox 18"/>
          <p:cNvSpPr txBox="1"/>
          <p:nvPr/>
        </p:nvSpPr>
        <p:spPr>
          <a:xfrm>
            <a:off x="3017520" y="23317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Sees only dishes available today</a:t>
            </a:r>
          </a:p>
        </p:txBody>
      </p:sp>
      <p:cxnSp>
        <p:nvCxnSpPr>
          <p:cNvPr id="20" name="Connector 19"/>
          <p:cNvCxnSpPr/>
          <p:nvPr/>
        </p:nvCxnSpPr>
        <p:spPr>
          <a:xfrm>
            <a:off x="4892040" y="26289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212079" y="16002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349240" y="17373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3</a:t>
            </a:r>
          </a:p>
        </p:txBody>
      </p:sp>
      <p:sp>
        <p:nvSpPr>
          <p:cNvPr id="23" name="TextBox 22"/>
          <p:cNvSpPr txBox="1"/>
          <p:nvPr/>
        </p:nvSpPr>
        <p:spPr>
          <a:xfrm>
            <a:off x="5870447" y="17556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Student</a:t>
            </a:r>
          </a:p>
        </p:txBody>
      </p:sp>
      <p:sp>
        <p:nvSpPr>
          <p:cNvPr id="24" name="TextBox 23"/>
          <p:cNvSpPr txBox="1"/>
          <p:nvPr/>
        </p:nvSpPr>
        <p:spPr>
          <a:xfrm>
            <a:off x="5349240" y="23317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Places order (pickup only)</a:t>
            </a:r>
          </a:p>
        </p:txBody>
      </p:sp>
      <p:cxnSp>
        <p:nvCxnSpPr>
          <p:cNvPr id="25" name="Connector 24"/>
          <p:cNvCxnSpPr/>
          <p:nvPr/>
        </p:nvCxnSpPr>
        <p:spPr>
          <a:xfrm>
            <a:off x="7223759" y="26289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543800" y="16002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680960" y="17373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4</a:t>
            </a:r>
          </a:p>
        </p:txBody>
      </p:sp>
      <p:sp>
        <p:nvSpPr>
          <p:cNvPr id="28" name="TextBox 27"/>
          <p:cNvSpPr txBox="1"/>
          <p:nvPr/>
        </p:nvSpPr>
        <p:spPr>
          <a:xfrm>
            <a:off x="8202168" y="17556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System</a:t>
            </a:r>
          </a:p>
        </p:txBody>
      </p:sp>
      <p:sp>
        <p:nvSpPr>
          <p:cNvPr id="29" name="TextBox 28"/>
          <p:cNvSpPr txBox="1"/>
          <p:nvPr/>
        </p:nvSpPr>
        <p:spPr>
          <a:xfrm>
            <a:off x="7680960" y="23317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Generates Order ID + 4-digit OTP</a:t>
            </a:r>
          </a:p>
        </p:txBody>
      </p:sp>
      <p:sp>
        <p:nvSpPr>
          <p:cNvPr id="30" name="Rounded Rectangle 29"/>
          <p:cNvSpPr/>
          <p:nvPr/>
        </p:nvSpPr>
        <p:spPr>
          <a:xfrm>
            <a:off x="548640" y="4114800"/>
            <a:ext cx="1965960" cy="205740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85800" y="4251960"/>
            <a:ext cx="457200" cy="45720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5</a:t>
            </a:r>
          </a:p>
        </p:txBody>
      </p:sp>
      <p:sp>
        <p:nvSpPr>
          <p:cNvPr id="32" name="TextBox 31"/>
          <p:cNvSpPr txBox="1"/>
          <p:nvPr/>
        </p:nvSpPr>
        <p:spPr>
          <a:xfrm>
            <a:off x="1207007" y="42702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Restaurant</a:t>
            </a:r>
          </a:p>
        </p:txBody>
      </p:sp>
      <p:sp>
        <p:nvSpPr>
          <p:cNvPr id="33" name="TextBox 32"/>
          <p:cNvSpPr txBox="1"/>
          <p:nvPr/>
        </p:nvSpPr>
        <p:spPr>
          <a:xfrm>
            <a:off x="685800" y="48463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Gets the order, prepares it, marks Ready</a:t>
            </a:r>
          </a:p>
        </p:txBody>
      </p:sp>
      <p:cxnSp>
        <p:nvCxnSpPr>
          <p:cNvPr id="34" name="Connector 33"/>
          <p:cNvCxnSpPr/>
          <p:nvPr/>
        </p:nvCxnSpPr>
        <p:spPr>
          <a:xfrm>
            <a:off x="2560320" y="51435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880360" y="41148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3017520" y="42519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6</a:t>
            </a:r>
          </a:p>
        </p:txBody>
      </p:sp>
      <p:sp>
        <p:nvSpPr>
          <p:cNvPr id="37" name="TextBox 36"/>
          <p:cNvSpPr txBox="1"/>
          <p:nvPr/>
        </p:nvSpPr>
        <p:spPr>
          <a:xfrm>
            <a:off x="3538728" y="42702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Student</a:t>
            </a:r>
          </a:p>
        </p:txBody>
      </p:sp>
      <p:sp>
        <p:nvSpPr>
          <p:cNvPr id="38" name="TextBox 37"/>
          <p:cNvSpPr txBox="1"/>
          <p:nvPr/>
        </p:nvSpPr>
        <p:spPr>
          <a:xfrm>
            <a:off x="3017520" y="48463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Comes to counter, tells Order ID + OTP</a:t>
            </a:r>
          </a:p>
        </p:txBody>
      </p:sp>
      <p:cxnSp>
        <p:nvCxnSpPr>
          <p:cNvPr id="39" name="Connector 38"/>
          <p:cNvCxnSpPr/>
          <p:nvPr/>
        </p:nvCxnSpPr>
        <p:spPr>
          <a:xfrm>
            <a:off x="4892040" y="51435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5212079" y="4114800"/>
            <a:ext cx="1965960" cy="205740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349240" y="4251960"/>
            <a:ext cx="457200" cy="45720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7</a:t>
            </a:r>
          </a:p>
        </p:txBody>
      </p:sp>
      <p:sp>
        <p:nvSpPr>
          <p:cNvPr id="42" name="TextBox 41"/>
          <p:cNvSpPr txBox="1"/>
          <p:nvPr/>
        </p:nvSpPr>
        <p:spPr>
          <a:xfrm>
            <a:off x="5870447" y="42702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Restaurant</a:t>
            </a:r>
          </a:p>
        </p:txBody>
      </p:sp>
      <p:sp>
        <p:nvSpPr>
          <p:cNvPr id="43" name="TextBox 42"/>
          <p:cNvSpPr txBox="1"/>
          <p:nvPr/>
        </p:nvSpPr>
        <p:spPr>
          <a:xfrm>
            <a:off x="5349240" y="48463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Enters Order ID + OTP in dashboard</a:t>
            </a:r>
          </a:p>
        </p:txBody>
      </p:sp>
      <p:cxnSp>
        <p:nvCxnSpPr>
          <p:cNvPr id="44" name="Connector 43"/>
          <p:cNvCxnSpPr/>
          <p:nvPr/>
        </p:nvCxnSpPr>
        <p:spPr>
          <a:xfrm>
            <a:off x="7223759" y="5143500"/>
            <a:ext cx="274320" cy="0"/>
          </a:xfrm>
          <a:prstGeom prst="line">
            <a:avLst/>
          </a:prstGeom>
          <a:ln w="28575">
            <a:solidFill>
              <a:srgbClr val="FF6600"/>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543800" y="4114800"/>
            <a:ext cx="1965960" cy="205740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680960" y="4251960"/>
            <a:ext cx="457200" cy="45720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8</a:t>
            </a:r>
          </a:p>
        </p:txBody>
      </p:sp>
      <p:sp>
        <p:nvSpPr>
          <p:cNvPr id="47" name="TextBox 46"/>
          <p:cNvSpPr txBox="1"/>
          <p:nvPr/>
        </p:nvSpPr>
        <p:spPr>
          <a:xfrm>
            <a:off x="8202168" y="4270248"/>
            <a:ext cx="1280160" cy="411480"/>
          </a:xfrm>
          <a:prstGeom prst="rect">
            <a:avLst/>
          </a:prstGeom>
          <a:noFill/>
        </p:spPr>
        <p:txBody>
          <a:bodyPr wrap="square" anchor="ctr" lIns="45720" rIns="45720">
            <a:spAutoFit/>
          </a:bodyPr>
          <a:lstStyle/>
          <a:p>
            <a:pPr algn="l">
              <a:spcAft>
                <a:spcPts val="400"/>
              </a:spcAft>
            </a:pPr>
            <a:r>
              <a:rPr sz="1400" b="1" i="0">
                <a:solidFill>
                  <a:srgbClr val="555555"/>
                </a:solidFill>
                <a:latin typeface="Times New Roman"/>
              </a:rPr>
              <a:t>System</a:t>
            </a:r>
          </a:p>
        </p:txBody>
      </p:sp>
      <p:sp>
        <p:nvSpPr>
          <p:cNvPr id="48" name="TextBox 47"/>
          <p:cNvSpPr txBox="1"/>
          <p:nvPr/>
        </p:nvSpPr>
        <p:spPr>
          <a:xfrm>
            <a:off x="7680960" y="4846320"/>
            <a:ext cx="1691639" cy="1280160"/>
          </a:xfrm>
          <a:prstGeom prst="rect">
            <a:avLst/>
          </a:prstGeom>
          <a:noFill/>
        </p:spPr>
        <p:txBody>
          <a:bodyPr wrap="square" anchor="t" lIns="45720" rIns="45720">
            <a:spAutoFit/>
          </a:bodyPr>
          <a:lstStyle/>
          <a:p>
            <a:pPr algn="l">
              <a:spcAft>
                <a:spcPts val="400"/>
              </a:spcAft>
            </a:pPr>
            <a:r>
              <a:rPr sz="1600" b="0" i="0">
                <a:solidFill>
                  <a:srgbClr val="222222"/>
                </a:solidFill>
                <a:latin typeface="Times New Roman"/>
              </a:rPr>
              <a:t>Verifies OTP – if it matches, order is Collected</a:t>
            </a:r>
          </a:p>
        </p:txBody>
      </p:sp>
      <p:sp>
        <p:nvSpPr>
          <p:cNvPr id="49" name="TextBox 48"/>
          <p:cNvSpPr txBox="1"/>
          <p:nvPr/>
        </p:nvSpPr>
        <p:spPr>
          <a:xfrm>
            <a:off x="548640" y="6629400"/>
            <a:ext cx="8961120" cy="457200"/>
          </a:xfrm>
          <a:prstGeom prst="rect">
            <a:avLst/>
          </a:prstGeom>
          <a:noFill/>
        </p:spPr>
        <p:txBody>
          <a:bodyPr wrap="square" anchor="t" lIns="45720" rIns="45720">
            <a:spAutoFit/>
          </a:bodyPr>
          <a:lstStyle/>
          <a:p>
            <a:pPr algn="l">
              <a:spcAft>
                <a:spcPts val="400"/>
              </a:spcAft>
            </a:pPr>
            <a:r>
              <a:rPr sz="1500" b="1" i="0">
                <a:solidFill>
                  <a:srgbClr val="1B3F8B"/>
                </a:solidFill>
                <a:latin typeface="Times New Roman"/>
              </a:rPr>
              <a:t>Note: </a:t>
            </a:r>
            <a:r>
              <a:rPr sz="1500" b="0" i="0">
                <a:solidFill>
                  <a:srgbClr val="222222"/>
                </a:solidFill>
                <a:latin typeface="Times New Roman"/>
              </a:rPr>
              <a:t>the OTP is shown only on the ordering student's screen, so only that student can collect the order.</a:t>
            </a:r>
          </a:p>
        </p:txBody>
      </p:sp>
    </p:spTree>
    <p:extLst>
      <p:ext uri="{BB962C8B-B14F-4D97-AF65-F5344CB8AC3E}">
        <p14:creationId xmlns:p14="http://schemas.microsoft.com/office/powerpoint/2010/main" val="419021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Implementation – REST APIs</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graphicFrame>
        <p:nvGraphicFramePr>
          <p:cNvPr id="11" name="Table 10"/>
          <p:cNvGraphicFramePr>
            <a:graphicFrameLocks noGrp="1"/>
          </p:cNvGraphicFramePr>
          <p:nvPr/>
        </p:nvGraphicFramePr>
        <p:xfrm>
          <a:off x="548640" y="1508760"/>
          <a:ext cx="8961119" cy="5486400"/>
        </p:xfrm>
        <a:graphic>
          <a:graphicData uri="http://schemas.openxmlformats.org/drawingml/2006/table">
            <a:tbl>
              <a:tblPr firstRow="1" bandRow="1">
                <a:tableStyleId>{5C22544A-7EE6-4342-B048-85BDC9FD1C3A}</a:tableStyleId>
              </a:tblPr>
              <a:tblGrid>
                <a:gridCol w="868680"/>
                <a:gridCol w="3749039"/>
                <a:gridCol w="1325880"/>
                <a:gridCol w="3017520"/>
              </a:tblGrid>
              <a:tr h="457200">
                <a:tc>
                  <a:txBody>
                    <a:bodyPr wrap="square"/>
                    <a:lstStyle/>
                    <a:p>
                      <a:r>
                        <a:rPr sz="1300" b="1" i="0">
                          <a:solidFill>
                            <a:srgbClr val="FFFFFF"/>
                          </a:solidFill>
                          <a:latin typeface="Times New Roman"/>
                        </a:rPr>
                        <a:t>Method</a:t>
                      </a:r>
                    </a:p>
                  </a:txBody>
                  <a:tcPr anchor="ctr" marL="73152" marR="73152" marT="27432" marB="27432">
                    <a:solidFill>
                      <a:srgbClr val="1B3F8B"/>
                    </a:solidFill>
                  </a:tcPr>
                </a:tc>
                <a:tc>
                  <a:txBody>
                    <a:bodyPr wrap="square"/>
                    <a:lstStyle/>
                    <a:p>
                      <a:r>
                        <a:rPr sz="1300" b="1" i="0">
                          <a:solidFill>
                            <a:srgbClr val="FFFFFF"/>
                          </a:solidFill>
                          <a:latin typeface="Times New Roman"/>
                        </a:rPr>
                        <a:t>Endpoint</a:t>
                      </a:r>
                    </a:p>
                  </a:txBody>
                  <a:tcPr anchor="ctr" marL="73152" marR="73152" marT="27432" marB="27432">
                    <a:solidFill>
                      <a:srgbClr val="1B3F8B"/>
                    </a:solidFill>
                  </a:tcPr>
                </a:tc>
                <a:tc>
                  <a:txBody>
                    <a:bodyPr wrap="square"/>
                    <a:lstStyle/>
                    <a:p>
                      <a:r>
                        <a:rPr sz="1300" b="1" i="0">
                          <a:solidFill>
                            <a:srgbClr val="FFFFFF"/>
                          </a:solidFill>
                          <a:latin typeface="Times New Roman"/>
                        </a:rPr>
                        <a:t>Access</a:t>
                      </a:r>
                    </a:p>
                  </a:txBody>
                  <a:tcPr anchor="ctr" marL="73152" marR="73152" marT="27432" marB="27432">
                    <a:solidFill>
                      <a:srgbClr val="1B3F8B"/>
                    </a:solidFill>
                  </a:tcPr>
                </a:tc>
                <a:tc>
                  <a:txBody>
                    <a:bodyPr wrap="square"/>
                    <a:lstStyle/>
                    <a:p>
                      <a:r>
                        <a:rPr sz="1300" b="1" i="0">
                          <a:solidFill>
                            <a:srgbClr val="FFFFFF"/>
                          </a:solidFill>
                          <a:latin typeface="Times New Roman"/>
                        </a:rPr>
                        <a:t>Purpose</a:t>
                      </a:r>
                    </a:p>
                  </a:txBody>
                  <a:tcPr anchor="ctr" marL="73152" marR="73152" marT="27432" marB="27432">
                    <a:solidFill>
                      <a:srgbClr val="1B3F8B"/>
                    </a:solidFill>
                  </a:tcPr>
                </a:tc>
              </a:tr>
              <a:tr h="457200">
                <a:tc>
                  <a:txBody>
                    <a:bodyPr wrap="square"/>
                    <a:lstStyle/>
                    <a:p>
                      <a:r>
                        <a:rPr sz="1300" b="1" i="0">
                          <a:solidFill>
                            <a:srgbClr val="222222"/>
                          </a:solidFill>
                          <a:latin typeface="Times New Roman"/>
                        </a:rPr>
                        <a:t>POST</a:t>
                      </a:r>
                    </a:p>
                  </a:txBody>
                  <a:tcPr anchor="ctr" marL="73152" marR="73152" marT="27432" marB="27432">
                    <a:solidFill>
                      <a:srgbClr val="FFFFFF"/>
                    </a:solidFill>
                  </a:tcPr>
                </a:tc>
                <a:tc>
                  <a:txBody>
                    <a:bodyPr wrap="square"/>
                    <a:lstStyle/>
                    <a:p>
                      <a:r>
                        <a:rPr sz="1300" b="0" i="0">
                          <a:solidFill>
                            <a:srgbClr val="222222"/>
                          </a:solidFill>
                          <a:latin typeface="Times New Roman"/>
                        </a:rPr>
                        <a:t>/api/auth/register</a:t>
                      </a:r>
                    </a:p>
                  </a:txBody>
                  <a:tcPr anchor="ctr" marL="73152" marR="73152" marT="27432" marB="27432">
                    <a:solidFill>
                      <a:srgbClr val="FFFFFF"/>
                    </a:solidFill>
                  </a:tcPr>
                </a:tc>
                <a:tc>
                  <a:txBody>
                    <a:bodyPr wrap="square"/>
                    <a:lstStyle/>
                    <a:p>
                      <a:r>
                        <a:rPr sz="1300" b="0" i="0">
                          <a:solidFill>
                            <a:srgbClr val="222222"/>
                          </a:solidFill>
                          <a:latin typeface="Times New Roman"/>
                        </a:rPr>
                        <a:t>Public</a:t>
                      </a:r>
                    </a:p>
                  </a:txBody>
                  <a:tcPr anchor="ctr" marL="73152" marR="73152" marT="27432" marB="27432">
                    <a:solidFill>
                      <a:srgbClr val="FFFFFF"/>
                    </a:solidFill>
                  </a:tcPr>
                </a:tc>
                <a:tc>
                  <a:txBody>
                    <a:bodyPr wrap="square"/>
                    <a:lstStyle/>
                    <a:p>
                      <a:r>
                        <a:rPr sz="1300" b="0" i="0">
                          <a:solidFill>
                            <a:srgbClr val="222222"/>
                          </a:solidFill>
                          <a:latin typeface="Times New Roman"/>
                        </a:rPr>
                        <a:t>Student registration</a:t>
                      </a:r>
                    </a:p>
                  </a:txBody>
                  <a:tcPr anchor="ctr" marL="73152" marR="73152" marT="27432" marB="27432">
                    <a:solidFill>
                      <a:srgbClr val="FFFFFF"/>
                    </a:solidFill>
                  </a:tcPr>
                </a:tc>
              </a:tr>
              <a:tr h="457200">
                <a:tc>
                  <a:txBody>
                    <a:bodyPr wrap="square"/>
                    <a:lstStyle/>
                    <a:p>
                      <a:r>
                        <a:rPr sz="1300" b="1" i="0">
                          <a:solidFill>
                            <a:srgbClr val="222222"/>
                          </a:solidFill>
                          <a:latin typeface="Times New Roman"/>
                        </a:rPr>
                        <a:t>POST</a:t>
                      </a:r>
                    </a:p>
                  </a:txBody>
                  <a:tcPr anchor="ctr" marL="73152" marR="73152" marT="27432" marB="27432">
                    <a:solidFill>
                      <a:srgbClr val="FFF0E5"/>
                    </a:solidFill>
                  </a:tcPr>
                </a:tc>
                <a:tc>
                  <a:txBody>
                    <a:bodyPr wrap="square"/>
                    <a:lstStyle/>
                    <a:p>
                      <a:r>
                        <a:rPr sz="1300" b="0" i="0">
                          <a:solidFill>
                            <a:srgbClr val="222222"/>
                          </a:solidFill>
                          <a:latin typeface="Times New Roman"/>
                        </a:rPr>
                        <a:t>/api/auth/login</a:t>
                      </a:r>
                    </a:p>
                  </a:txBody>
                  <a:tcPr anchor="ctr" marL="73152" marR="73152" marT="27432" marB="27432">
                    <a:solidFill>
                      <a:srgbClr val="FFF0E5"/>
                    </a:solidFill>
                  </a:tcPr>
                </a:tc>
                <a:tc>
                  <a:txBody>
                    <a:bodyPr wrap="square"/>
                    <a:lstStyle/>
                    <a:p>
                      <a:r>
                        <a:rPr sz="1300" b="0" i="0">
                          <a:solidFill>
                            <a:srgbClr val="222222"/>
                          </a:solidFill>
                          <a:latin typeface="Times New Roman"/>
                        </a:rPr>
                        <a:t>Public</a:t>
                      </a:r>
                    </a:p>
                  </a:txBody>
                  <a:tcPr anchor="ctr" marL="73152" marR="73152" marT="27432" marB="27432">
                    <a:solidFill>
                      <a:srgbClr val="FFF0E5"/>
                    </a:solidFill>
                  </a:tcPr>
                </a:tc>
                <a:tc>
                  <a:txBody>
                    <a:bodyPr wrap="square"/>
                    <a:lstStyle/>
                    <a:p>
                      <a:r>
                        <a:rPr sz="1300" b="0" i="0">
                          <a:solidFill>
                            <a:srgbClr val="222222"/>
                          </a:solidFill>
                          <a:latin typeface="Times New Roman"/>
                        </a:rPr>
                        <a:t>Login, returns JWT token</a:t>
                      </a:r>
                    </a:p>
                  </a:txBody>
                  <a:tcPr anchor="ctr" marL="73152" marR="73152" marT="27432" marB="27432">
                    <a:solidFill>
                      <a:srgbClr val="FFF0E5"/>
                    </a:solidFill>
                  </a:tcPr>
                </a:tc>
              </a:tr>
              <a:tr h="457200">
                <a:tc>
                  <a:txBody>
                    <a:bodyPr wrap="square"/>
                    <a:lstStyle/>
                    <a:p>
                      <a:r>
                        <a:rPr sz="1300" b="1" i="0">
                          <a:solidFill>
                            <a:srgbClr val="222222"/>
                          </a:solidFill>
                          <a:latin typeface="Times New Roman"/>
                        </a:rPr>
                        <a:t>GET</a:t>
                      </a:r>
                    </a:p>
                  </a:txBody>
                  <a:tcPr anchor="ctr" marL="73152" marR="73152" marT="27432" marB="27432">
                    <a:solidFill>
                      <a:srgbClr val="FFFFFF"/>
                    </a:solidFill>
                  </a:tcPr>
                </a:tc>
                <a:tc>
                  <a:txBody>
                    <a:bodyPr wrap="square"/>
                    <a:lstStyle/>
                    <a:p>
                      <a:r>
                        <a:rPr sz="1300" b="0" i="0">
                          <a:solidFill>
                            <a:srgbClr val="222222"/>
                          </a:solidFill>
                          <a:latin typeface="Times New Roman"/>
                        </a:rPr>
                        <a:t>/api/restaurants</a:t>
                      </a:r>
                    </a:p>
                  </a:txBody>
                  <a:tcPr anchor="ctr" marL="73152" marR="73152" marT="27432" marB="27432">
                    <a:solidFill>
                      <a:srgbClr val="FFFFFF"/>
                    </a:solidFill>
                  </a:tcPr>
                </a:tc>
                <a:tc>
                  <a:txBody>
                    <a:bodyPr wrap="square"/>
                    <a:lstStyle/>
                    <a:p>
                      <a:r>
                        <a:rPr sz="1300" b="0" i="0">
                          <a:solidFill>
                            <a:srgbClr val="222222"/>
                          </a:solidFill>
                          <a:latin typeface="Times New Roman"/>
                        </a:rPr>
                        <a:t>Student</a:t>
                      </a:r>
                    </a:p>
                  </a:txBody>
                  <a:tcPr anchor="ctr" marL="73152" marR="73152" marT="27432" marB="27432">
                    <a:solidFill>
                      <a:srgbClr val="FFFFFF"/>
                    </a:solidFill>
                  </a:tcPr>
                </a:tc>
                <a:tc>
                  <a:txBody>
                    <a:bodyPr wrap="square"/>
                    <a:lstStyle/>
                    <a:p>
                      <a:r>
                        <a:rPr sz="1300" b="0" i="0">
                          <a:solidFill>
                            <a:srgbClr val="222222"/>
                          </a:solidFill>
                          <a:latin typeface="Times New Roman"/>
                        </a:rPr>
                        <a:t>List campus restaurants</a:t>
                      </a:r>
                    </a:p>
                  </a:txBody>
                  <a:tcPr anchor="ctr" marL="73152" marR="73152" marT="27432" marB="27432">
                    <a:solidFill>
                      <a:srgbClr val="FFFFFF"/>
                    </a:solidFill>
                  </a:tcPr>
                </a:tc>
              </a:tr>
              <a:tr h="457200">
                <a:tc>
                  <a:txBody>
                    <a:bodyPr wrap="square"/>
                    <a:lstStyle/>
                    <a:p>
                      <a:r>
                        <a:rPr sz="1300" b="1" i="0">
                          <a:solidFill>
                            <a:srgbClr val="222222"/>
                          </a:solidFill>
                          <a:latin typeface="Times New Roman"/>
                        </a:rPr>
                        <a:t>GET</a:t>
                      </a:r>
                    </a:p>
                  </a:txBody>
                  <a:tcPr anchor="ctr" marL="73152" marR="73152" marT="27432" marB="27432">
                    <a:solidFill>
                      <a:srgbClr val="FFF0E5"/>
                    </a:solidFill>
                  </a:tcPr>
                </a:tc>
                <a:tc>
                  <a:txBody>
                    <a:bodyPr wrap="square"/>
                    <a:lstStyle/>
                    <a:p>
                      <a:r>
                        <a:rPr sz="1300" b="0" i="0">
                          <a:solidFill>
                            <a:srgbClr val="222222"/>
                          </a:solidFill>
                          <a:latin typeface="Times New Roman"/>
                        </a:rPr>
                        <a:t>/api/restaurants/{id}/dishes</a:t>
                      </a:r>
                    </a:p>
                  </a:txBody>
                  <a:tcPr anchor="ctr" marL="73152" marR="73152" marT="27432" marB="27432">
                    <a:solidFill>
                      <a:srgbClr val="FFF0E5"/>
                    </a:solidFill>
                  </a:tcPr>
                </a:tc>
                <a:tc>
                  <a:txBody>
                    <a:bodyPr wrap="square"/>
                    <a:lstStyle/>
                    <a:p>
                      <a:r>
                        <a:rPr sz="1300" b="0" i="0">
                          <a:solidFill>
                            <a:srgbClr val="222222"/>
                          </a:solidFill>
                          <a:latin typeface="Times New Roman"/>
                        </a:rPr>
                        <a:t>Student</a:t>
                      </a:r>
                    </a:p>
                  </a:txBody>
                  <a:tcPr anchor="ctr" marL="73152" marR="73152" marT="27432" marB="27432">
                    <a:solidFill>
                      <a:srgbClr val="FFF0E5"/>
                    </a:solidFill>
                  </a:tcPr>
                </a:tc>
                <a:tc>
                  <a:txBody>
                    <a:bodyPr wrap="square"/>
                    <a:lstStyle/>
                    <a:p>
                      <a:r>
                        <a:rPr sz="1300" b="0" i="0">
                          <a:solidFill>
                            <a:srgbClr val="222222"/>
                          </a:solidFill>
                          <a:latin typeface="Times New Roman"/>
                        </a:rPr>
                        <a:t>Only today's available dishes</a:t>
                      </a:r>
                    </a:p>
                  </a:txBody>
                  <a:tcPr anchor="ctr" marL="73152" marR="73152" marT="27432" marB="27432">
                    <a:solidFill>
                      <a:srgbClr val="FFF0E5"/>
                    </a:solidFill>
                  </a:tcPr>
                </a:tc>
              </a:tr>
              <a:tr h="457200">
                <a:tc>
                  <a:txBody>
                    <a:bodyPr wrap="square"/>
                    <a:lstStyle/>
                    <a:p>
                      <a:r>
                        <a:rPr sz="1300" b="1" i="0">
                          <a:solidFill>
                            <a:srgbClr val="222222"/>
                          </a:solidFill>
                          <a:latin typeface="Times New Roman"/>
                        </a:rPr>
                        <a:t>POST</a:t>
                      </a:r>
                    </a:p>
                  </a:txBody>
                  <a:tcPr anchor="ctr" marL="73152" marR="73152" marT="27432" marB="27432">
                    <a:solidFill>
                      <a:srgbClr val="FFFFFF"/>
                    </a:solidFill>
                  </a:tcPr>
                </a:tc>
                <a:tc>
                  <a:txBody>
                    <a:bodyPr wrap="square"/>
                    <a:lstStyle/>
                    <a:p>
                      <a:r>
                        <a:rPr sz="1300" b="0" i="0">
                          <a:solidFill>
                            <a:srgbClr val="222222"/>
                          </a:solidFill>
                          <a:latin typeface="Times New Roman"/>
                        </a:rPr>
                        <a:t>/api/orders</a:t>
                      </a:r>
                    </a:p>
                  </a:txBody>
                  <a:tcPr anchor="ctr" marL="73152" marR="73152" marT="27432" marB="27432">
                    <a:solidFill>
                      <a:srgbClr val="FFFFFF"/>
                    </a:solidFill>
                  </a:tcPr>
                </a:tc>
                <a:tc>
                  <a:txBody>
                    <a:bodyPr wrap="square"/>
                    <a:lstStyle/>
                    <a:p>
                      <a:r>
                        <a:rPr sz="1300" b="0" i="0">
                          <a:solidFill>
                            <a:srgbClr val="222222"/>
                          </a:solidFill>
                          <a:latin typeface="Times New Roman"/>
                        </a:rPr>
                        <a:t>Student</a:t>
                      </a:r>
                    </a:p>
                  </a:txBody>
                  <a:tcPr anchor="ctr" marL="73152" marR="73152" marT="27432" marB="27432">
                    <a:solidFill>
                      <a:srgbClr val="FFFFFF"/>
                    </a:solidFill>
                  </a:tcPr>
                </a:tc>
                <a:tc>
                  <a:txBody>
                    <a:bodyPr wrap="square"/>
                    <a:lstStyle/>
                    <a:p>
                      <a:r>
                        <a:rPr sz="1300" b="0" i="0">
                          <a:solidFill>
                            <a:srgbClr val="222222"/>
                          </a:solidFill>
                          <a:latin typeface="Times New Roman"/>
                        </a:rPr>
                        <a:t>Place order → Order ID + OTP</a:t>
                      </a:r>
                    </a:p>
                  </a:txBody>
                  <a:tcPr anchor="ctr" marL="73152" marR="73152" marT="27432" marB="27432">
                    <a:solidFill>
                      <a:srgbClr val="FFFFFF"/>
                    </a:solidFill>
                  </a:tcPr>
                </a:tc>
              </a:tr>
              <a:tr h="457200">
                <a:tc>
                  <a:txBody>
                    <a:bodyPr wrap="square"/>
                    <a:lstStyle/>
                    <a:p>
                      <a:r>
                        <a:rPr sz="1300" b="1" i="0">
                          <a:solidFill>
                            <a:srgbClr val="222222"/>
                          </a:solidFill>
                          <a:latin typeface="Times New Roman"/>
                        </a:rPr>
                        <a:t>GET</a:t>
                      </a:r>
                    </a:p>
                  </a:txBody>
                  <a:tcPr anchor="ctr" marL="73152" marR="73152" marT="27432" marB="27432">
                    <a:solidFill>
                      <a:srgbClr val="FFF0E5"/>
                    </a:solidFill>
                  </a:tcPr>
                </a:tc>
                <a:tc>
                  <a:txBody>
                    <a:bodyPr wrap="square"/>
                    <a:lstStyle/>
                    <a:p>
                      <a:r>
                        <a:rPr sz="1300" b="0" i="0">
                          <a:solidFill>
                            <a:srgbClr val="222222"/>
                          </a:solidFill>
                          <a:latin typeface="Times New Roman"/>
                        </a:rPr>
                        <a:t>/api/orders/my</a:t>
                      </a:r>
                    </a:p>
                  </a:txBody>
                  <a:tcPr anchor="ctr" marL="73152" marR="73152" marT="27432" marB="27432">
                    <a:solidFill>
                      <a:srgbClr val="FFF0E5"/>
                    </a:solidFill>
                  </a:tcPr>
                </a:tc>
                <a:tc>
                  <a:txBody>
                    <a:bodyPr wrap="square"/>
                    <a:lstStyle/>
                    <a:p>
                      <a:r>
                        <a:rPr sz="1300" b="0" i="0">
                          <a:solidFill>
                            <a:srgbClr val="222222"/>
                          </a:solidFill>
                          <a:latin typeface="Times New Roman"/>
                        </a:rPr>
                        <a:t>Student</a:t>
                      </a:r>
                    </a:p>
                  </a:txBody>
                  <a:tcPr anchor="ctr" marL="73152" marR="73152" marT="27432" marB="27432">
                    <a:solidFill>
                      <a:srgbClr val="FFF0E5"/>
                    </a:solidFill>
                  </a:tcPr>
                </a:tc>
                <a:tc>
                  <a:txBody>
                    <a:bodyPr wrap="square"/>
                    <a:lstStyle/>
                    <a:p>
                      <a:r>
                        <a:rPr sz="1300" b="0" i="0">
                          <a:solidFill>
                            <a:srgbClr val="222222"/>
                          </a:solidFill>
                          <a:latin typeface="Times New Roman"/>
                        </a:rPr>
                        <a:t>My orders and their status</a:t>
                      </a:r>
                    </a:p>
                  </a:txBody>
                  <a:tcPr anchor="ctr" marL="73152" marR="73152" marT="27432" marB="27432">
                    <a:solidFill>
                      <a:srgbClr val="FFF0E5"/>
                    </a:solidFill>
                  </a:tcPr>
                </a:tc>
              </a:tr>
              <a:tr h="457200">
                <a:tc>
                  <a:txBody>
                    <a:bodyPr wrap="square"/>
                    <a:lstStyle/>
                    <a:p>
                      <a:r>
                        <a:rPr sz="1300" b="1" i="0">
                          <a:solidFill>
                            <a:srgbClr val="222222"/>
                          </a:solidFill>
                          <a:latin typeface="Times New Roman"/>
                        </a:rPr>
                        <a:t>POST</a:t>
                      </a:r>
                    </a:p>
                  </a:txBody>
                  <a:tcPr anchor="ctr" marL="73152" marR="73152" marT="27432" marB="27432">
                    <a:solidFill>
                      <a:srgbClr val="FFFFFF"/>
                    </a:solidFill>
                  </a:tcPr>
                </a:tc>
                <a:tc>
                  <a:txBody>
                    <a:bodyPr wrap="square"/>
                    <a:lstStyle/>
                    <a:p>
                      <a:r>
                        <a:rPr sz="1300" b="0" i="0">
                          <a:solidFill>
                            <a:srgbClr val="222222"/>
                          </a:solidFill>
                          <a:latin typeface="Times New Roman"/>
                        </a:rPr>
                        <a:t>/api/restaurant/dishes</a:t>
                      </a:r>
                    </a:p>
                  </a:txBody>
                  <a:tcPr anchor="ctr" marL="73152" marR="73152" marT="27432" marB="27432">
                    <a:solidFill>
                      <a:srgbClr val="FFFFFF"/>
                    </a:solidFill>
                  </a:tcPr>
                </a:tc>
                <a:tc>
                  <a:txBody>
                    <a:bodyPr wrap="square"/>
                    <a:lstStyle/>
                    <a:p>
                      <a:r>
                        <a:rPr sz="1300" b="0" i="0">
                          <a:solidFill>
                            <a:srgbClr val="222222"/>
                          </a:solidFill>
                          <a:latin typeface="Times New Roman"/>
                        </a:rPr>
                        <a:t>Restaurant</a:t>
                      </a:r>
                    </a:p>
                  </a:txBody>
                  <a:tcPr anchor="ctr" marL="73152" marR="73152" marT="27432" marB="27432">
                    <a:solidFill>
                      <a:srgbClr val="FFFFFF"/>
                    </a:solidFill>
                  </a:tcPr>
                </a:tc>
                <a:tc>
                  <a:txBody>
                    <a:bodyPr wrap="square"/>
                    <a:lstStyle/>
                    <a:p>
                      <a:r>
                        <a:rPr sz="1300" b="0" i="0">
                          <a:solidFill>
                            <a:srgbClr val="222222"/>
                          </a:solidFill>
                          <a:latin typeface="Times New Roman"/>
                        </a:rPr>
                        <a:t>Add a dish to own menu</a:t>
                      </a:r>
                    </a:p>
                  </a:txBody>
                  <a:tcPr anchor="ctr" marL="73152" marR="73152" marT="27432" marB="27432">
                    <a:solidFill>
                      <a:srgbClr val="FFFFFF"/>
                    </a:solidFill>
                  </a:tcPr>
                </a:tc>
              </a:tr>
              <a:tr h="457200">
                <a:tc>
                  <a:txBody>
                    <a:bodyPr wrap="square"/>
                    <a:lstStyle/>
                    <a:p>
                      <a:r>
                        <a:rPr sz="1300" b="1" i="0">
                          <a:solidFill>
                            <a:srgbClr val="222222"/>
                          </a:solidFill>
                          <a:latin typeface="Times New Roman"/>
                        </a:rPr>
                        <a:t>PATCH</a:t>
                      </a:r>
                    </a:p>
                  </a:txBody>
                  <a:tcPr anchor="ctr" marL="73152" marR="73152" marT="27432" marB="27432">
                    <a:solidFill>
                      <a:srgbClr val="FFF0E5"/>
                    </a:solidFill>
                  </a:tcPr>
                </a:tc>
                <a:tc>
                  <a:txBody>
                    <a:bodyPr wrap="square"/>
                    <a:lstStyle/>
                    <a:p>
                      <a:r>
                        <a:rPr sz="1300" b="0" i="0">
                          <a:solidFill>
                            <a:srgbClr val="222222"/>
                          </a:solidFill>
                          <a:latin typeface="Times New Roman"/>
                        </a:rPr>
                        <a:t>/api/restaurant/dishes/{id}/availability</a:t>
                      </a:r>
                    </a:p>
                  </a:txBody>
                  <a:tcPr anchor="ctr" marL="73152" marR="73152" marT="27432" marB="27432">
                    <a:solidFill>
                      <a:srgbClr val="FFF0E5"/>
                    </a:solidFill>
                  </a:tcPr>
                </a:tc>
                <a:tc>
                  <a:txBody>
                    <a:bodyPr wrap="square"/>
                    <a:lstStyle/>
                    <a:p>
                      <a:r>
                        <a:rPr sz="1300" b="0" i="0">
                          <a:solidFill>
                            <a:srgbClr val="222222"/>
                          </a:solidFill>
                          <a:latin typeface="Times New Roman"/>
                        </a:rPr>
                        <a:t>Restaurant</a:t>
                      </a:r>
                    </a:p>
                  </a:txBody>
                  <a:tcPr anchor="ctr" marL="73152" marR="73152" marT="27432" marB="27432">
                    <a:solidFill>
                      <a:srgbClr val="FFF0E5"/>
                    </a:solidFill>
                  </a:tcPr>
                </a:tc>
                <a:tc>
                  <a:txBody>
                    <a:bodyPr wrap="square"/>
                    <a:lstStyle/>
                    <a:p>
                      <a:r>
                        <a:rPr sz="1300" b="0" i="0">
                          <a:solidFill>
                            <a:srgbClr val="222222"/>
                          </a:solidFill>
                          <a:latin typeface="Times New Roman"/>
                        </a:rPr>
                        <a:t>Mark available / unavailable</a:t>
                      </a:r>
                    </a:p>
                  </a:txBody>
                  <a:tcPr anchor="ctr" marL="73152" marR="73152" marT="27432" marB="27432">
                    <a:solidFill>
                      <a:srgbClr val="FFF0E5"/>
                    </a:solidFill>
                  </a:tcPr>
                </a:tc>
              </a:tr>
              <a:tr h="457200">
                <a:tc>
                  <a:txBody>
                    <a:bodyPr wrap="square"/>
                    <a:lstStyle/>
                    <a:p>
                      <a:r>
                        <a:rPr sz="1300" b="1" i="0">
                          <a:solidFill>
                            <a:srgbClr val="222222"/>
                          </a:solidFill>
                          <a:latin typeface="Times New Roman"/>
                        </a:rPr>
                        <a:t>GET</a:t>
                      </a:r>
                    </a:p>
                  </a:txBody>
                  <a:tcPr anchor="ctr" marL="73152" marR="73152" marT="27432" marB="27432">
                    <a:solidFill>
                      <a:srgbClr val="FFFFFF"/>
                    </a:solidFill>
                  </a:tcPr>
                </a:tc>
                <a:tc>
                  <a:txBody>
                    <a:bodyPr wrap="square"/>
                    <a:lstStyle/>
                    <a:p>
                      <a:r>
                        <a:rPr sz="1300" b="0" i="0">
                          <a:solidFill>
                            <a:srgbClr val="222222"/>
                          </a:solidFill>
                          <a:latin typeface="Times New Roman"/>
                        </a:rPr>
                        <a:t>/api/restaurant/orders</a:t>
                      </a:r>
                    </a:p>
                  </a:txBody>
                  <a:tcPr anchor="ctr" marL="73152" marR="73152" marT="27432" marB="27432">
                    <a:solidFill>
                      <a:srgbClr val="FFFFFF"/>
                    </a:solidFill>
                  </a:tcPr>
                </a:tc>
                <a:tc>
                  <a:txBody>
                    <a:bodyPr wrap="square"/>
                    <a:lstStyle/>
                    <a:p>
                      <a:r>
                        <a:rPr sz="1300" b="0" i="0">
                          <a:solidFill>
                            <a:srgbClr val="222222"/>
                          </a:solidFill>
                          <a:latin typeface="Times New Roman"/>
                        </a:rPr>
                        <a:t>Restaurant</a:t>
                      </a:r>
                    </a:p>
                  </a:txBody>
                  <a:tcPr anchor="ctr" marL="73152" marR="73152" marT="27432" marB="27432">
                    <a:solidFill>
                      <a:srgbClr val="FFFFFF"/>
                    </a:solidFill>
                  </a:tcPr>
                </a:tc>
                <a:tc>
                  <a:txBody>
                    <a:bodyPr wrap="square"/>
                    <a:lstStyle/>
                    <a:p>
                      <a:r>
                        <a:rPr sz="1300" b="0" i="0">
                          <a:solidFill>
                            <a:srgbClr val="222222"/>
                          </a:solidFill>
                          <a:latin typeface="Times New Roman"/>
                        </a:rPr>
                        <a:t>Own restaurant's orders</a:t>
                      </a:r>
                    </a:p>
                  </a:txBody>
                  <a:tcPr anchor="ctr" marL="73152" marR="73152" marT="27432" marB="27432">
                    <a:solidFill>
                      <a:srgbClr val="FFFFFF"/>
                    </a:solidFill>
                  </a:tcPr>
                </a:tc>
              </a:tr>
              <a:tr h="457200">
                <a:tc>
                  <a:txBody>
                    <a:bodyPr wrap="square"/>
                    <a:lstStyle/>
                    <a:p>
                      <a:r>
                        <a:rPr sz="1300" b="1" i="0">
                          <a:solidFill>
                            <a:srgbClr val="222222"/>
                          </a:solidFill>
                          <a:latin typeface="Times New Roman"/>
                        </a:rPr>
                        <a:t>POST</a:t>
                      </a:r>
                    </a:p>
                  </a:txBody>
                  <a:tcPr anchor="ctr" marL="73152" marR="73152" marT="27432" marB="27432">
                    <a:solidFill>
                      <a:srgbClr val="FFF0E5"/>
                    </a:solidFill>
                  </a:tcPr>
                </a:tc>
                <a:tc>
                  <a:txBody>
                    <a:bodyPr wrap="square"/>
                    <a:lstStyle/>
                    <a:p>
                      <a:r>
                        <a:rPr sz="1300" b="0" i="0">
                          <a:solidFill>
                            <a:srgbClr val="222222"/>
                          </a:solidFill>
                          <a:latin typeface="Times New Roman"/>
                        </a:rPr>
                        <a:t>/api/restaurant/orders/verify</a:t>
                      </a:r>
                    </a:p>
                  </a:txBody>
                  <a:tcPr anchor="ctr" marL="73152" marR="73152" marT="27432" marB="27432">
                    <a:solidFill>
                      <a:srgbClr val="FFF0E5"/>
                    </a:solidFill>
                  </a:tcPr>
                </a:tc>
                <a:tc>
                  <a:txBody>
                    <a:bodyPr wrap="square"/>
                    <a:lstStyle/>
                    <a:p>
                      <a:r>
                        <a:rPr sz="1300" b="0" i="0">
                          <a:solidFill>
                            <a:srgbClr val="222222"/>
                          </a:solidFill>
                          <a:latin typeface="Times New Roman"/>
                        </a:rPr>
                        <a:t>Restaurant</a:t>
                      </a:r>
                    </a:p>
                  </a:txBody>
                  <a:tcPr anchor="ctr" marL="73152" marR="73152" marT="27432" marB="27432">
                    <a:solidFill>
                      <a:srgbClr val="FFF0E5"/>
                    </a:solidFill>
                  </a:tcPr>
                </a:tc>
                <a:tc>
                  <a:txBody>
                    <a:bodyPr wrap="square"/>
                    <a:lstStyle/>
                    <a:p>
                      <a:r>
                        <a:rPr sz="1300" b="0" i="0">
                          <a:solidFill>
                            <a:srgbClr val="222222"/>
                          </a:solidFill>
                          <a:latin typeface="Times New Roman"/>
                        </a:rPr>
                        <a:t>Verify Order ID + OTP → Collected</a:t>
                      </a:r>
                    </a:p>
                  </a:txBody>
                  <a:tcPr anchor="ctr" marL="73152" marR="73152" marT="27432" marB="27432">
                    <a:solidFill>
                      <a:srgbClr val="FFF0E5"/>
                    </a:solidFill>
                  </a:tcPr>
                </a:tc>
              </a:tr>
              <a:tr h="457200">
                <a:tc>
                  <a:txBody>
                    <a:bodyPr wrap="square"/>
                    <a:lstStyle/>
                    <a:p>
                      <a:r>
                        <a:rPr sz="1300" b="1" i="0">
                          <a:solidFill>
                            <a:srgbClr val="222222"/>
                          </a:solidFill>
                          <a:latin typeface="Times New Roman"/>
                        </a:rPr>
                        <a:t>ALL</a:t>
                      </a:r>
                    </a:p>
                  </a:txBody>
                  <a:tcPr anchor="ctr" marL="73152" marR="73152" marT="27432" marB="27432">
                    <a:solidFill>
                      <a:srgbClr val="FFFFFF"/>
                    </a:solidFill>
                  </a:tcPr>
                </a:tc>
                <a:tc>
                  <a:txBody>
                    <a:bodyPr wrap="square"/>
                    <a:lstStyle/>
                    <a:p>
                      <a:r>
                        <a:rPr sz="1300" b="0" i="0">
                          <a:solidFill>
                            <a:srgbClr val="222222"/>
                          </a:solidFill>
                          <a:latin typeface="Times New Roman"/>
                        </a:rPr>
                        <a:t>/api/admin/**</a:t>
                      </a:r>
                    </a:p>
                  </a:txBody>
                  <a:tcPr anchor="ctr" marL="73152" marR="73152" marT="27432" marB="27432">
                    <a:solidFill>
                      <a:srgbClr val="FFFFFF"/>
                    </a:solidFill>
                  </a:tcPr>
                </a:tc>
                <a:tc>
                  <a:txBody>
                    <a:bodyPr wrap="square"/>
                    <a:lstStyle/>
                    <a:p>
                      <a:r>
                        <a:rPr sz="1300" b="0" i="0">
                          <a:solidFill>
                            <a:srgbClr val="222222"/>
                          </a:solidFill>
                          <a:latin typeface="Times New Roman"/>
                        </a:rPr>
                        <a:t>Admin</a:t>
                      </a:r>
                    </a:p>
                  </a:txBody>
                  <a:tcPr anchor="ctr" marL="73152" marR="73152" marT="27432" marB="27432">
                    <a:solidFill>
                      <a:srgbClr val="FFFFFF"/>
                    </a:solidFill>
                  </a:tcPr>
                </a:tc>
                <a:tc>
                  <a:txBody>
                    <a:bodyPr wrap="square"/>
                    <a:lstStyle/>
                    <a:p>
                      <a:r>
                        <a:rPr sz="1300" b="0" i="0">
                          <a:solidFill>
                            <a:srgbClr val="222222"/>
                          </a:solidFill>
                          <a:latin typeface="Times New Roman"/>
                        </a:rPr>
                        <a:t>Manage everything (hidden)</a:t>
                      </a:r>
                    </a:p>
                  </a:txBody>
                  <a:tcPr anchor="ctr" marL="73152" marR="73152" marT="27432" marB="27432">
                    <a:solidFill>
                      <a:srgbClr val="FFFFFF"/>
                    </a:solidFill>
                  </a:tcPr>
                </a:tc>
              </a:tr>
            </a:tbl>
          </a:graphicData>
        </a:graphic>
      </p:graphicFrame>
    </p:spTree>
    <p:extLst>
      <p:ext uri="{BB962C8B-B14F-4D97-AF65-F5344CB8AC3E}">
        <p14:creationId xmlns:p14="http://schemas.microsoft.com/office/powerpoint/2010/main" val="4190210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200" b="1" dirty="0">
                <a:solidFill>
                  <a:schemeClr val="bg1"/>
                </a:solidFill>
                <a:latin typeface="Times New Roman" panose="02020603050405020304" pitchFamily="18" charset="0"/>
                <a:cs typeface="Times New Roman" panose="02020603050405020304" pitchFamily="18" charset="0"/>
              </a:rPr>
              <a:t>Security &amp; Access Control</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54480"/>
            <a:ext cx="4389120" cy="164592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1520" y="1755648"/>
            <a:ext cx="502920" cy="5029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1</a:t>
            </a:r>
          </a:p>
        </p:txBody>
      </p:sp>
      <p:sp>
        <p:nvSpPr>
          <p:cNvPr id="13" name="TextBox 12"/>
          <p:cNvSpPr txBox="1"/>
          <p:nvPr/>
        </p:nvSpPr>
        <p:spPr>
          <a:xfrm>
            <a:off x="1417319" y="1737360"/>
            <a:ext cx="3383280" cy="457200"/>
          </a:xfrm>
          <a:prstGeom prst="rect">
            <a:avLst/>
          </a:prstGeom>
          <a:noFill/>
        </p:spPr>
        <p:txBody>
          <a:bodyPr wrap="square" anchor="ctr" lIns="45720" rIns="45720">
            <a:spAutoFit/>
          </a:bodyPr>
          <a:lstStyle/>
          <a:p>
            <a:pPr algn="l">
              <a:spcAft>
                <a:spcPts val="400"/>
              </a:spcAft>
            </a:pPr>
            <a:r>
              <a:rPr sz="1800" b="1" i="0">
                <a:solidFill>
                  <a:srgbClr val="FF6600"/>
                </a:solidFill>
                <a:latin typeface="Times New Roman"/>
              </a:rPr>
              <a:t>Role-based access</a:t>
            </a:r>
          </a:p>
        </p:txBody>
      </p:sp>
      <p:sp>
        <p:nvSpPr>
          <p:cNvPr id="14" name="TextBox 13"/>
          <p:cNvSpPr txBox="1"/>
          <p:nvPr/>
        </p:nvSpPr>
        <p:spPr>
          <a:xfrm>
            <a:off x="1417319" y="22128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Every request carries a JWT with the user's role, checked by the gateway and services.</a:t>
            </a:r>
          </a:p>
        </p:txBody>
      </p:sp>
      <p:sp>
        <p:nvSpPr>
          <p:cNvPr id="15" name="Rounded Rectangle 14"/>
          <p:cNvSpPr/>
          <p:nvPr/>
        </p:nvSpPr>
        <p:spPr>
          <a:xfrm>
            <a:off x="5120640" y="1554480"/>
            <a:ext cx="4389120" cy="164592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303520" y="1755648"/>
            <a:ext cx="502920" cy="50292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2</a:t>
            </a:r>
          </a:p>
        </p:txBody>
      </p:sp>
      <p:sp>
        <p:nvSpPr>
          <p:cNvPr id="17" name="TextBox 16"/>
          <p:cNvSpPr txBox="1"/>
          <p:nvPr/>
        </p:nvSpPr>
        <p:spPr>
          <a:xfrm>
            <a:off x="5989320" y="1737360"/>
            <a:ext cx="3383280" cy="457200"/>
          </a:xfrm>
          <a:prstGeom prst="rect">
            <a:avLst/>
          </a:prstGeom>
          <a:noFill/>
        </p:spPr>
        <p:txBody>
          <a:bodyPr wrap="square" anchor="ctr" lIns="45720" rIns="45720">
            <a:spAutoFit/>
          </a:bodyPr>
          <a:lstStyle/>
          <a:p>
            <a:pPr algn="l">
              <a:spcAft>
                <a:spcPts val="400"/>
              </a:spcAft>
            </a:pPr>
            <a:r>
              <a:rPr sz="1800" b="1" i="0">
                <a:solidFill>
                  <a:srgbClr val="1B3F8B"/>
                </a:solidFill>
                <a:latin typeface="Times New Roman"/>
              </a:rPr>
              <a:t>Restaurant isolation</a:t>
            </a:r>
          </a:p>
        </p:txBody>
      </p:sp>
      <p:sp>
        <p:nvSpPr>
          <p:cNvPr id="18" name="TextBox 17"/>
          <p:cNvSpPr txBox="1"/>
          <p:nvPr/>
        </p:nvSpPr>
        <p:spPr>
          <a:xfrm>
            <a:off x="5989320" y="22128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A restaurant login is linked to one restaurant and can only see its own menu and orders.</a:t>
            </a:r>
          </a:p>
        </p:txBody>
      </p:sp>
      <p:sp>
        <p:nvSpPr>
          <p:cNvPr id="19" name="Rounded Rectangle 18"/>
          <p:cNvSpPr/>
          <p:nvPr/>
        </p:nvSpPr>
        <p:spPr>
          <a:xfrm>
            <a:off x="548640" y="3383280"/>
            <a:ext cx="4389120" cy="164592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31520" y="3584448"/>
            <a:ext cx="502920" cy="50292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3</a:t>
            </a:r>
          </a:p>
        </p:txBody>
      </p:sp>
      <p:sp>
        <p:nvSpPr>
          <p:cNvPr id="21" name="TextBox 20"/>
          <p:cNvSpPr txBox="1"/>
          <p:nvPr/>
        </p:nvSpPr>
        <p:spPr>
          <a:xfrm>
            <a:off x="1417319" y="3566160"/>
            <a:ext cx="3383280" cy="457200"/>
          </a:xfrm>
          <a:prstGeom prst="rect">
            <a:avLst/>
          </a:prstGeom>
          <a:noFill/>
        </p:spPr>
        <p:txBody>
          <a:bodyPr wrap="square" anchor="ctr" lIns="45720" rIns="45720">
            <a:spAutoFit/>
          </a:bodyPr>
          <a:lstStyle/>
          <a:p>
            <a:pPr algn="l">
              <a:spcAft>
                <a:spcPts val="400"/>
              </a:spcAft>
            </a:pPr>
            <a:r>
              <a:rPr sz="1800" b="1" i="0">
                <a:solidFill>
                  <a:srgbClr val="1B3F8B"/>
                </a:solidFill>
                <a:latin typeface="Times New Roman"/>
              </a:rPr>
              <a:t>Hidden admin</a:t>
            </a:r>
          </a:p>
        </p:txBody>
      </p:sp>
      <p:sp>
        <p:nvSpPr>
          <p:cNvPr id="22" name="TextBox 21"/>
          <p:cNvSpPr txBox="1"/>
          <p:nvPr/>
        </p:nvSpPr>
        <p:spPr>
          <a:xfrm>
            <a:off x="1417319" y="40416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No admin link, button or signup anywhere. Admin uses a hidden URL; accounts are created in the DB.</a:t>
            </a:r>
          </a:p>
        </p:txBody>
      </p:sp>
      <p:sp>
        <p:nvSpPr>
          <p:cNvPr id="23" name="Rounded Rectangle 22"/>
          <p:cNvSpPr/>
          <p:nvPr/>
        </p:nvSpPr>
        <p:spPr>
          <a:xfrm>
            <a:off x="5120640" y="3383280"/>
            <a:ext cx="4389120" cy="164592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303520" y="3584448"/>
            <a:ext cx="502920" cy="5029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4</a:t>
            </a:r>
          </a:p>
        </p:txBody>
      </p:sp>
      <p:sp>
        <p:nvSpPr>
          <p:cNvPr id="25" name="TextBox 24"/>
          <p:cNvSpPr txBox="1"/>
          <p:nvPr/>
        </p:nvSpPr>
        <p:spPr>
          <a:xfrm>
            <a:off x="5989320" y="3566160"/>
            <a:ext cx="3383280" cy="457200"/>
          </a:xfrm>
          <a:prstGeom prst="rect">
            <a:avLst/>
          </a:prstGeom>
          <a:noFill/>
        </p:spPr>
        <p:txBody>
          <a:bodyPr wrap="square" anchor="ctr" lIns="45720" rIns="45720">
            <a:spAutoFit/>
          </a:bodyPr>
          <a:lstStyle/>
          <a:p>
            <a:pPr algn="l">
              <a:spcAft>
                <a:spcPts val="400"/>
              </a:spcAft>
            </a:pPr>
            <a:r>
              <a:rPr sz="1800" b="1" i="0">
                <a:solidFill>
                  <a:srgbClr val="FF6600"/>
                </a:solidFill>
                <a:latin typeface="Times New Roman"/>
              </a:rPr>
              <a:t>Students only order</a:t>
            </a:r>
          </a:p>
        </p:txBody>
      </p:sp>
      <p:sp>
        <p:nvSpPr>
          <p:cNvPr id="26" name="TextBox 25"/>
          <p:cNvSpPr txBox="1"/>
          <p:nvPr/>
        </p:nvSpPr>
        <p:spPr>
          <a:xfrm>
            <a:off x="5989320" y="40416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Students cannot open restaurant or admin pages or APIs (403 Forbidden).</a:t>
            </a:r>
          </a:p>
        </p:txBody>
      </p:sp>
      <p:sp>
        <p:nvSpPr>
          <p:cNvPr id="27" name="Rounded Rectangle 26"/>
          <p:cNvSpPr/>
          <p:nvPr/>
        </p:nvSpPr>
        <p:spPr>
          <a:xfrm>
            <a:off x="548640" y="5212080"/>
            <a:ext cx="4389120" cy="164592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13248"/>
            <a:ext cx="502920" cy="5029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5</a:t>
            </a:r>
          </a:p>
        </p:txBody>
      </p:sp>
      <p:sp>
        <p:nvSpPr>
          <p:cNvPr id="29" name="TextBox 28"/>
          <p:cNvSpPr txBox="1"/>
          <p:nvPr/>
        </p:nvSpPr>
        <p:spPr>
          <a:xfrm>
            <a:off x="1417319" y="5394960"/>
            <a:ext cx="3383280" cy="457200"/>
          </a:xfrm>
          <a:prstGeom prst="rect">
            <a:avLst/>
          </a:prstGeom>
          <a:noFill/>
        </p:spPr>
        <p:txBody>
          <a:bodyPr wrap="square" anchor="ctr" lIns="45720" rIns="45720">
            <a:spAutoFit/>
          </a:bodyPr>
          <a:lstStyle/>
          <a:p>
            <a:pPr algn="l">
              <a:spcAft>
                <a:spcPts val="400"/>
              </a:spcAft>
            </a:pPr>
            <a:r>
              <a:rPr sz="1800" b="1" i="0">
                <a:solidFill>
                  <a:srgbClr val="FF6600"/>
                </a:solidFill>
                <a:latin typeface="Times New Roman"/>
              </a:rPr>
              <a:t>Only available dishes</a:t>
            </a:r>
          </a:p>
        </p:txBody>
      </p:sp>
      <p:sp>
        <p:nvSpPr>
          <p:cNvPr id="30" name="TextBox 29"/>
          <p:cNvSpPr txBox="1"/>
          <p:nvPr/>
        </p:nvSpPr>
        <p:spPr>
          <a:xfrm>
            <a:off x="1417319" y="58704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Unavailable dishes are filtered out by the API and never sent to students.</a:t>
            </a:r>
          </a:p>
        </p:txBody>
      </p:sp>
      <p:sp>
        <p:nvSpPr>
          <p:cNvPr id="31" name="Rounded Rectangle 30"/>
          <p:cNvSpPr/>
          <p:nvPr/>
        </p:nvSpPr>
        <p:spPr>
          <a:xfrm>
            <a:off x="5120640" y="5212080"/>
            <a:ext cx="4389120" cy="164592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303520" y="5413248"/>
            <a:ext cx="502920" cy="50292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Times New Roman"/>
              </a:rPr>
              <a:t>6</a:t>
            </a:r>
          </a:p>
        </p:txBody>
      </p:sp>
      <p:sp>
        <p:nvSpPr>
          <p:cNvPr id="33" name="TextBox 32"/>
          <p:cNvSpPr txBox="1"/>
          <p:nvPr/>
        </p:nvSpPr>
        <p:spPr>
          <a:xfrm>
            <a:off x="5989320" y="5394960"/>
            <a:ext cx="3383280" cy="457200"/>
          </a:xfrm>
          <a:prstGeom prst="rect">
            <a:avLst/>
          </a:prstGeom>
          <a:noFill/>
        </p:spPr>
        <p:txBody>
          <a:bodyPr wrap="square" anchor="ctr" lIns="45720" rIns="45720">
            <a:spAutoFit/>
          </a:bodyPr>
          <a:lstStyle/>
          <a:p>
            <a:pPr algn="l">
              <a:spcAft>
                <a:spcPts val="400"/>
              </a:spcAft>
            </a:pPr>
            <a:r>
              <a:rPr sz="1800" b="1" i="0">
                <a:solidFill>
                  <a:srgbClr val="1B3F8B"/>
                </a:solidFill>
                <a:latin typeface="Times New Roman"/>
              </a:rPr>
              <a:t>Pickup only</a:t>
            </a:r>
          </a:p>
        </p:txBody>
      </p:sp>
      <p:sp>
        <p:nvSpPr>
          <p:cNvPr id="34" name="TextBox 33"/>
          <p:cNvSpPr txBox="1"/>
          <p:nvPr/>
        </p:nvSpPr>
        <p:spPr>
          <a:xfrm>
            <a:off x="5989320" y="5870448"/>
            <a:ext cx="3383280" cy="960120"/>
          </a:xfrm>
          <a:prstGeom prst="rect">
            <a:avLst/>
          </a:prstGeom>
          <a:noFill/>
        </p:spPr>
        <p:txBody>
          <a:bodyPr wrap="square" anchor="t" lIns="45720" rIns="45720">
            <a:spAutoFit/>
          </a:bodyPr>
          <a:lstStyle/>
          <a:p>
            <a:pPr algn="l">
              <a:spcAft>
                <a:spcPts val="400"/>
              </a:spcAft>
            </a:pPr>
            <a:r>
              <a:rPr sz="1500" b="0" i="0">
                <a:solidFill>
                  <a:srgbClr val="222222"/>
                </a:solidFill>
                <a:latin typeface="Times New Roman"/>
              </a:rPr>
              <a:t>No room delivery – food is collected at the counter with Order ID + OTP.</a:t>
            </a:r>
          </a:p>
        </p:txBody>
      </p:sp>
    </p:spTree>
    <p:extLst>
      <p:ext uri="{BB962C8B-B14F-4D97-AF65-F5344CB8AC3E}">
        <p14:creationId xmlns:p14="http://schemas.microsoft.com/office/powerpoint/2010/main" val="4190210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Future Scope</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600200"/>
            <a:ext cx="2834640" cy="246888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645919" y="182880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1</a:t>
            </a:r>
          </a:p>
        </p:txBody>
      </p:sp>
      <p:sp>
        <p:nvSpPr>
          <p:cNvPr id="13" name="TextBox 12"/>
          <p:cNvSpPr txBox="1"/>
          <p:nvPr/>
        </p:nvSpPr>
        <p:spPr>
          <a:xfrm>
            <a:off x="685800" y="2606040"/>
            <a:ext cx="2560320" cy="411480"/>
          </a:xfrm>
          <a:prstGeom prst="rect">
            <a:avLst/>
          </a:prstGeom>
          <a:noFill/>
        </p:spPr>
        <p:txBody>
          <a:bodyPr wrap="square" anchor="t" lIns="45720" rIns="45720">
            <a:spAutoFit/>
          </a:bodyPr>
          <a:lstStyle/>
          <a:p>
            <a:pPr algn="ctr">
              <a:spcAft>
                <a:spcPts val="400"/>
              </a:spcAft>
            </a:pPr>
            <a:r>
              <a:rPr sz="1800" b="1" i="0">
                <a:solidFill>
                  <a:srgbClr val="FF6600"/>
                </a:solidFill>
                <a:latin typeface="Times New Roman"/>
              </a:rPr>
              <a:t>Online payments</a:t>
            </a:r>
          </a:p>
        </p:txBody>
      </p:sp>
      <p:sp>
        <p:nvSpPr>
          <p:cNvPr id="14" name="TextBox 13"/>
          <p:cNvSpPr txBox="1"/>
          <p:nvPr/>
        </p:nvSpPr>
        <p:spPr>
          <a:xfrm>
            <a:off x="731520" y="30632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UPI / card payment while ordering.</a:t>
            </a:r>
          </a:p>
        </p:txBody>
      </p:sp>
      <p:sp>
        <p:nvSpPr>
          <p:cNvPr id="15" name="Rounded Rectangle 14"/>
          <p:cNvSpPr/>
          <p:nvPr/>
        </p:nvSpPr>
        <p:spPr>
          <a:xfrm>
            <a:off x="3593592" y="1600200"/>
            <a:ext cx="2834640" cy="246888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90872" y="1828800"/>
            <a:ext cx="640080" cy="64008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2</a:t>
            </a:r>
          </a:p>
        </p:txBody>
      </p:sp>
      <p:sp>
        <p:nvSpPr>
          <p:cNvPr id="17" name="TextBox 16"/>
          <p:cNvSpPr txBox="1"/>
          <p:nvPr/>
        </p:nvSpPr>
        <p:spPr>
          <a:xfrm>
            <a:off x="3730752" y="2606040"/>
            <a:ext cx="2560320" cy="411480"/>
          </a:xfrm>
          <a:prstGeom prst="rect">
            <a:avLst/>
          </a:prstGeom>
          <a:noFill/>
        </p:spPr>
        <p:txBody>
          <a:bodyPr wrap="square" anchor="t" lIns="45720" rIns="45720">
            <a:spAutoFit/>
          </a:bodyPr>
          <a:lstStyle/>
          <a:p>
            <a:pPr algn="ctr">
              <a:spcAft>
                <a:spcPts val="400"/>
              </a:spcAft>
            </a:pPr>
            <a:r>
              <a:rPr sz="1800" b="1" i="0">
                <a:solidFill>
                  <a:srgbClr val="1B3F8B"/>
                </a:solidFill>
                <a:latin typeface="Times New Roman"/>
              </a:rPr>
              <a:t>Live notifications</a:t>
            </a:r>
          </a:p>
        </p:txBody>
      </p:sp>
      <p:sp>
        <p:nvSpPr>
          <p:cNvPr id="18" name="TextBox 17"/>
          <p:cNvSpPr txBox="1"/>
          <p:nvPr/>
        </p:nvSpPr>
        <p:spPr>
          <a:xfrm>
            <a:off x="3776472" y="30632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SMS or push alert when the order is ready.</a:t>
            </a:r>
          </a:p>
        </p:txBody>
      </p:sp>
      <p:sp>
        <p:nvSpPr>
          <p:cNvPr id="19" name="Rounded Rectangle 18"/>
          <p:cNvSpPr/>
          <p:nvPr/>
        </p:nvSpPr>
        <p:spPr>
          <a:xfrm>
            <a:off x="6638544" y="1600200"/>
            <a:ext cx="2834640" cy="246888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735823" y="182880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3</a:t>
            </a:r>
          </a:p>
        </p:txBody>
      </p:sp>
      <p:sp>
        <p:nvSpPr>
          <p:cNvPr id="21" name="TextBox 20"/>
          <p:cNvSpPr txBox="1"/>
          <p:nvPr/>
        </p:nvSpPr>
        <p:spPr>
          <a:xfrm>
            <a:off x="6775704" y="2606040"/>
            <a:ext cx="2560320" cy="411480"/>
          </a:xfrm>
          <a:prstGeom prst="rect">
            <a:avLst/>
          </a:prstGeom>
          <a:noFill/>
        </p:spPr>
        <p:txBody>
          <a:bodyPr wrap="square" anchor="t" lIns="45720" rIns="45720">
            <a:spAutoFit/>
          </a:bodyPr>
          <a:lstStyle/>
          <a:p>
            <a:pPr algn="ctr">
              <a:spcAft>
                <a:spcPts val="400"/>
              </a:spcAft>
            </a:pPr>
            <a:r>
              <a:rPr sz="1800" b="1" i="0">
                <a:solidFill>
                  <a:srgbClr val="FF6600"/>
                </a:solidFill>
                <a:latin typeface="Times New Roman"/>
              </a:rPr>
              <a:t>Mobile app</a:t>
            </a:r>
          </a:p>
        </p:txBody>
      </p:sp>
      <p:sp>
        <p:nvSpPr>
          <p:cNvPr id="22" name="TextBox 21"/>
          <p:cNvSpPr txBox="1"/>
          <p:nvPr/>
        </p:nvSpPr>
        <p:spPr>
          <a:xfrm>
            <a:off x="6821424" y="30632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Android and iOS apps using the same REST APIs.</a:t>
            </a:r>
          </a:p>
        </p:txBody>
      </p:sp>
      <p:sp>
        <p:nvSpPr>
          <p:cNvPr id="23" name="Rounded Rectangle 22"/>
          <p:cNvSpPr/>
          <p:nvPr/>
        </p:nvSpPr>
        <p:spPr>
          <a:xfrm>
            <a:off x="548640" y="4343400"/>
            <a:ext cx="2834640" cy="246888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645919" y="4572000"/>
            <a:ext cx="640080" cy="64008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4</a:t>
            </a:r>
          </a:p>
        </p:txBody>
      </p:sp>
      <p:sp>
        <p:nvSpPr>
          <p:cNvPr id="25" name="TextBox 24"/>
          <p:cNvSpPr txBox="1"/>
          <p:nvPr/>
        </p:nvSpPr>
        <p:spPr>
          <a:xfrm>
            <a:off x="685800" y="5349240"/>
            <a:ext cx="2560320" cy="411480"/>
          </a:xfrm>
          <a:prstGeom prst="rect">
            <a:avLst/>
          </a:prstGeom>
          <a:noFill/>
        </p:spPr>
        <p:txBody>
          <a:bodyPr wrap="square" anchor="t" lIns="45720" rIns="45720">
            <a:spAutoFit/>
          </a:bodyPr>
          <a:lstStyle/>
          <a:p>
            <a:pPr algn="ctr">
              <a:spcAft>
                <a:spcPts val="400"/>
              </a:spcAft>
            </a:pPr>
            <a:r>
              <a:rPr sz="1800" b="1" i="0">
                <a:solidFill>
                  <a:srgbClr val="1B3F8B"/>
                </a:solidFill>
                <a:latin typeface="Times New Roman"/>
              </a:rPr>
              <a:t>Scheduled orders</a:t>
            </a:r>
          </a:p>
        </p:txBody>
      </p:sp>
      <p:sp>
        <p:nvSpPr>
          <p:cNvPr id="26" name="TextBox 25"/>
          <p:cNvSpPr txBox="1"/>
          <p:nvPr/>
        </p:nvSpPr>
        <p:spPr>
          <a:xfrm>
            <a:off x="731520" y="58064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Pre-order food for a chosen pickup time slot.</a:t>
            </a:r>
          </a:p>
        </p:txBody>
      </p:sp>
      <p:sp>
        <p:nvSpPr>
          <p:cNvPr id="27" name="Rounded Rectangle 26"/>
          <p:cNvSpPr/>
          <p:nvPr/>
        </p:nvSpPr>
        <p:spPr>
          <a:xfrm>
            <a:off x="3593592" y="4343400"/>
            <a:ext cx="2834640" cy="246888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690872" y="457200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5</a:t>
            </a:r>
          </a:p>
        </p:txBody>
      </p:sp>
      <p:sp>
        <p:nvSpPr>
          <p:cNvPr id="29" name="TextBox 28"/>
          <p:cNvSpPr txBox="1"/>
          <p:nvPr/>
        </p:nvSpPr>
        <p:spPr>
          <a:xfrm>
            <a:off x="3730752" y="5349240"/>
            <a:ext cx="2560320" cy="411480"/>
          </a:xfrm>
          <a:prstGeom prst="rect">
            <a:avLst/>
          </a:prstGeom>
          <a:noFill/>
        </p:spPr>
        <p:txBody>
          <a:bodyPr wrap="square" anchor="t" lIns="45720" rIns="45720">
            <a:spAutoFit/>
          </a:bodyPr>
          <a:lstStyle/>
          <a:p>
            <a:pPr algn="ctr">
              <a:spcAft>
                <a:spcPts val="400"/>
              </a:spcAft>
            </a:pPr>
            <a:r>
              <a:rPr sz="1800" b="1" i="0">
                <a:solidFill>
                  <a:srgbClr val="FF6600"/>
                </a:solidFill>
                <a:latin typeface="Times New Roman"/>
              </a:rPr>
              <a:t>Ratings &amp; feedback</a:t>
            </a:r>
          </a:p>
        </p:txBody>
      </p:sp>
      <p:sp>
        <p:nvSpPr>
          <p:cNvPr id="30" name="TextBox 29"/>
          <p:cNvSpPr txBox="1"/>
          <p:nvPr/>
        </p:nvSpPr>
        <p:spPr>
          <a:xfrm>
            <a:off x="3776472" y="58064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Students rate dishes and restaurants.</a:t>
            </a:r>
          </a:p>
        </p:txBody>
      </p:sp>
      <p:sp>
        <p:nvSpPr>
          <p:cNvPr id="31" name="Rounded Rectangle 30"/>
          <p:cNvSpPr/>
          <p:nvPr/>
        </p:nvSpPr>
        <p:spPr>
          <a:xfrm>
            <a:off x="6638544" y="4343400"/>
            <a:ext cx="2834640" cy="246888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735823" y="4572000"/>
            <a:ext cx="640080" cy="640080"/>
          </a:xfrm>
          <a:prstGeom prst="ellipse">
            <a:avLst/>
          </a:prstGeom>
          <a:solidFill>
            <a:srgbClr val="1B3F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i="0">
                <a:solidFill>
                  <a:srgbClr val="FFFFFF"/>
                </a:solidFill>
                <a:latin typeface="Times New Roman"/>
              </a:rPr>
              <a:t>6</a:t>
            </a:r>
          </a:p>
        </p:txBody>
      </p:sp>
      <p:sp>
        <p:nvSpPr>
          <p:cNvPr id="33" name="TextBox 32"/>
          <p:cNvSpPr txBox="1"/>
          <p:nvPr/>
        </p:nvSpPr>
        <p:spPr>
          <a:xfrm>
            <a:off x="6775704" y="5349240"/>
            <a:ext cx="2560320" cy="411480"/>
          </a:xfrm>
          <a:prstGeom prst="rect">
            <a:avLst/>
          </a:prstGeom>
          <a:noFill/>
        </p:spPr>
        <p:txBody>
          <a:bodyPr wrap="square" anchor="t" lIns="45720" rIns="45720">
            <a:spAutoFit/>
          </a:bodyPr>
          <a:lstStyle/>
          <a:p>
            <a:pPr algn="ctr">
              <a:spcAft>
                <a:spcPts val="400"/>
              </a:spcAft>
            </a:pPr>
            <a:r>
              <a:rPr sz="1800" b="1" i="0">
                <a:solidFill>
                  <a:srgbClr val="1B3F8B"/>
                </a:solidFill>
                <a:latin typeface="Times New Roman"/>
              </a:rPr>
              <a:t>Cloud deployment</a:t>
            </a:r>
          </a:p>
        </p:txBody>
      </p:sp>
      <p:sp>
        <p:nvSpPr>
          <p:cNvPr id="34" name="TextBox 33"/>
          <p:cNvSpPr txBox="1"/>
          <p:nvPr/>
        </p:nvSpPr>
        <p:spPr>
          <a:xfrm>
            <a:off x="6821424" y="5806440"/>
            <a:ext cx="2468880" cy="91440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Docker containers and cloud hosting for scale.</a:t>
            </a:r>
          </a:p>
        </p:txBody>
      </p:sp>
    </p:spTree>
    <p:extLst>
      <p:ext uri="{BB962C8B-B14F-4D97-AF65-F5344CB8AC3E}">
        <p14:creationId xmlns:p14="http://schemas.microsoft.com/office/powerpoint/2010/main" val="4190210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Conclusion</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Rounded Rectangle 10"/>
          <p:cNvSpPr/>
          <p:nvPr/>
        </p:nvSpPr>
        <p:spPr>
          <a:xfrm>
            <a:off x="548640" y="1554480"/>
            <a:ext cx="2834640" cy="14630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1600200"/>
            <a:ext cx="2834640" cy="868680"/>
          </a:xfrm>
          <a:prstGeom prst="rect">
            <a:avLst/>
          </a:prstGeom>
          <a:noFill/>
        </p:spPr>
        <p:txBody>
          <a:bodyPr wrap="square" anchor="ctr" lIns="45720" rIns="45720">
            <a:spAutoFit/>
          </a:bodyPr>
          <a:lstStyle/>
          <a:p>
            <a:pPr algn="ctr">
              <a:spcAft>
                <a:spcPts val="400"/>
              </a:spcAft>
            </a:pPr>
            <a:r>
              <a:rPr sz="4800" b="1" i="0">
                <a:solidFill>
                  <a:srgbClr val="FF6600"/>
                </a:solidFill>
                <a:latin typeface="Times New Roman"/>
              </a:rPr>
              <a:t>3</a:t>
            </a:r>
          </a:p>
        </p:txBody>
      </p:sp>
      <p:sp>
        <p:nvSpPr>
          <p:cNvPr id="13" name="TextBox 12"/>
          <p:cNvSpPr txBox="1"/>
          <p:nvPr/>
        </p:nvSpPr>
        <p:spPr>
          <a:xfrm>
            <a:off x="548640" y="2468880"/>
            <a:ext cx="2834640" cy="411480"/>
          </a:xfrm>
          <a:prstGeom prst="rect">
            <a:avLst/>
          </a:prstGeom>
          <a:noFill/>
        </p:spPr>
        <p:txBody>
          <a:bodyPr wrap="square" anchor="t" lIns="45720" rIns="45720">
            <a:spAutoFit/>
          </a:bodyPr>
          <a:lstStyle/>
          <a:p>
            <a:pPr algn="ctr">
              <a:spcAft>
                <a:spcPts val="400"/>
              </a:spcAft>
            </a:pPr>
            <a:r>
              <a:rPr sz="1700" b="0" i="0">
                <a:solidFill>
                  <a:srgbClr val="222222"/>
                </a:solidFill>
                <a:latin typeface="Times New Roman"/>
              </a:rPr>
              <a:t>user roles</a:t>
            </a:r>
          </a:p>
        </p:txBody>
      </p:sp>
      <p:sp>
        <p:nvSpPr>
          <p:cNvPr id="14" name="Rounded Rectangle 13"/>
          <p:cNvSpPr/>
          <p:nvPr/>
        </p:nvSpPr>
        <p:spPr>
          <a:xfrm>
            <a:off x="3593592" y="1554480"/>
            <a:ext cx="2834640" cy="1463040"/>
          </a:xfrm>
          <a:prstGeom prst="roundRect">
            <a:avLst>
              <a:gd name="adj" fmla="val 8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93592" y="1600200"/>
            <a:ext cx="2834640" cy="868680"/>
          </a:xfrm>
          <a:prstGeom prst="rect">
            <a:avLst/>
          </a:prstGeom>
          <a:noFill/>
        </p:spPr>
        <p:txBody>
          <a:bodyPr wrap="square" anchor="ctr" lIns="45720" rIns="45720">
            <a:spAutoFit/>
          </a:bodyPr>
          <a:lstStyle/>
          <a:p>
            <a:pPr algn="ctr">
              <a:spcAft>
                <a:spcPts val="400"/>
              </a:spcAft>
            </a:pPr>
            <a:r>
              <a:rPr sz="4800" b="1" i="0">
                <a:solidFill>
                  <a:srgbClr val="1B3F8B"/>
                </a:solidFill>
                <a:latin typeface="Times New Roman"/>
              </a:rPr>
              <a:t>5</a:t>
            </a:r>
          </a:p>
        </p:txBody>
      </p:sp>
      <p:sp>
        <p:nvSpPr>
          <p:cNvPr id="16" name="TextBox 15"/>
          <p:cNvSpPr txBox="1"/>
          <p:nvPr/>
        </p:nvSpPr>
        <p:spPr>
          <a:xfrm>
            <a:off x="3593592" y="2468880"/>
            <a:ext cx="2834640" cy="411480"/>
          </a:xfrm>
          <a:prstGeom prst="rect">
            <a:avLst/>
          </a:prstGeom>
          <a:noFill/>
        </p:spPr>
        <p:txBody>
          <a:bodyPr wrap="square" anchor="t" lIns="45720" rIns="45720">
            <a:spAutoFit/>
          </a:bodyPr>
          <a:lstStyle/>
          <a:p>
            <a:pPr algn="ctr">
              <a:spcAft>
                <a:spcPts val="400"/>
              </a:spcAft>
            </a:pPr>
            <a:r>
              <a:rPr sz="1700" b="0" i="0">
                <a:solidFill>
                  <a:srgbClr val="222222"/>
                </a:solidFill>
                <a:latin typeface="Times New Roman"/>
              </a:rPr>
              <a:t>microservices</a:t>
            </a:r>
          </a:p>
        </p:txBody>
      </p:sp>
      <p:sp>
        <p:nvSpPr>
          <p:cNvPr id="17" name="Rounded Rectangle 16"/>
          <p:cNvSpPr/>
          <p:nvPr/>
        </p:nvSpPr>
        <p:spPr>
          <a:xfrm>
            <a:off x="6638544" y="1554480"/>
            <a:ext cx="2834640" cy="1463040"/>
          </a:xfrm>
          <a:prstGeom prst="roundRect">
            <a:avLst>
              <a:gd name="adj" fmla="val 8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38544" y="1600200"/>
            <a:ext cx="2834640" cy="868680"/>
          </a:xfrm>
          <a:prstGeom prst="rect">
            <a:avLst/>
          </a:prstGeom>
          <a:noFill/>
        </p:spPr>
        <p:txBody>
          <a:bodyPr wrap="square" anchor="ctr" lIns="45720" rIns="45720">
            <a:spAutoFit/>
          </a:bodyPr>
          <a:lstStyle/>
          <a:p>
            <a:pPr algn="ctr">
              <a:spcAft>
                <a:spcPts val="400"/>
              </a:spcAft>
            </a:pPr>
            <a:r>
              <a:rPr sz="4800" b="1" i="0">
                <a:solidFill>
                  <a:srgbClr val="FF6600"/>
                </a:solidFill>
                <a:latin typeface="Times New Roman"/>
              </a:rPr>
              <a:t>1</a:t>
            </a:r>
          </a:p>
        </p:txBody>
      </p:sp>
      <p:sp>
        <p:nvSpPr>
          <p:cNvPr id="19" name="TextBox 18"/>
          <p:cNvSpPr txBox="1"/>
          <p:nvPr/>
        </p:nvSpPr>
        <p:spPr>
          <a:xfrm>
            <a:off x="6638544" y="2468880"/>
            <a:ext cx="2834640" cy="411480"/>
          </a:xfrm>
          <a:prstGeom prst="rect">
            <a:avLst/>
          </a:prstGeom>
          <a:noFill/>
        </p:spPr>
        <p:txBody>
          <a:bodyPr wrap="square" anchor="t" lIns="45720" rIns="45720">
            <a:spAutoFit/>
          </a:bodyPr>
          <a:lstStyle/>
          <a:p>
            <a:pPr algn="ctr">
              <a:spcAft>
                <a:spcPts val="400"/>
              </a:spcAft>
            </a:pPr>
            <a:r>
              <a:rPr sz="1700" b="0" i="0">
                <a:solidFill>
                  <a:srgbClr val="222222"/>
                </a:solidFill>
                <a:latin typeface="Times New Roman"/>
              </a:rPr>
              <a:t>OTP per order</a:t>
            </a:r>
          </a:p>
        </p:txBody>
      </p:sp>
      <p:sp>
        <p:nvSpPr>
          <p:cNvPr id="20" name="TextBox 19"/>
          <p:cNvSpPr txBox="1"/>
          <p:nvPr/>
        </p:nvSpPr>
        <p:spPr>
          <a:xfrm>
            <a:off x="548640" y="3337560"/>
            <a:ext cx="8961120" cy="3749039"/>
          </a:xfrm>
          <a:prstGeom prst="rect">
            <a:avLst/>
          </a:prstGeom>
          <a:noFill/>
        </p:spPr>
        <p:txBody>
          <a:bodyPr wrap="square" anchor="t" lIns="45720" rIns="45720">
            <a:spAutoFit/>
          </a:bodyPr>
          <a:lstStyle/>
          <a:p>
            <a:pPr algn="l" marL="228600" indent="-228600">
              <a:spcAft>
                <a:spcPts val="1400"/>
              </a:spcAft>
              <a:buClr>
                <a:srgbClr val="FF6600"/>
              </a:buClr>
              <a:buFont typeface="Arial"/>
              <a:buChar char="▪"/>
            </a:pPr>
            <a:r>
              <a:rPr sz="1800" b="0" i="0">
                <a:solidFill>
                  <a:srgbClr val="222222"/>
                </a:solidFill>
                <a:latin typeface="Times New Roman"/>
              </a:rPr>
              <a:t>The Campus Food Pre-Order System replaces the phone-and-notebook process with a simple online workflow.</a:t>
            </a:r>
          </a:p>
          <a:p>
            <a:pPr algn="l" marL="228600" indent="-228600">
              <a:spcAft>
                <a:spcPts val="1400"/>
              </a:spcAft>
              <a:buClr>
                <a:srgbClr val="FF6600"/>
              </a:buClr>
              <a:buFont typeface="Arial"/>
              <a:buChar char="▪"/>
            </a:pPr>
            <a:r>
              <a:rPr sz="1800" b="0" i="0">
                <a:solidFill>
                  <a:srgbClr val="222222"/>
                </a:solidFill>
                <a:latin typeface="Times New Roman"/>
              </a:rPr>
              <a:t>Order ID + OTP verification makes sure the right student receives the right order.</a:t>
            </a:r>
          </a:p>
          <a:p>
            <a:pPr algn="l" marL="228600" indent="-228600">
              <a:spcAft>
                <a:spcPts val="1400"/>
              </a:spcAft>
              <a:buClr>
                <a:srgbClr val="FF6600"/>
              </a:buClr>
              <a:buFont typeface="Arial"/>
              <a:buChar char="▪"/>
            </a:pPr>
            <a:r>
              <a:rPr sz="1800" b="0" i="0">
                <a:solidFill>
                  <a:srgbClr val="222222"/>
                </a:solidFill>
                <a:latin typeface="Times New Roman"/>
              </a:rPr>
              <a:t>Restaurants manage only their own menu and daily availability, while a hidden admin oversees everything.</a:t>
            </a:r>
          </a:p>
          <a:p>
            <a:pPr algn="l" marL="228600" indent="-228600">
              <a:spcAft>
                <a:spcPts val="1400"/>
              </a:spcAft>
              <a:buClr>
                <a:srgbClr val="FF6600"/>
              </a:buClr>
              <a:buFont typeface="Arial"/>
              <a:buChar char="▪"/>
            </a:pPr>
            <a:r>
              <a:rPr sz="1800" b="0" i="0">
                <a:solidFill>
                  <a:srgbClr val="222222"/>
                </a:solidFill>
                <a:latin typeface="Times New Roman"/>
              </a:rPr>
              <a:t>Built as independent Spring Boot microservices with REST APIs, the system is easy to extend, scale and maintain – and can be used by every canteen on campus.</a:t>
            </a:r>
          </a:p>
        </p:txBody>
      </p:sp>
    </p:spTree>
    <p:extLst>
      <p:ext uri="{BB962C8B-B14F-4D97-AF65-F5344CB8AC3E}">
        <p14:creationId xmlns:p14="http://schemas.microsoft.com/office/powerpoint/2010/main" val="4190210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0127A1B-56C6-6F58-E9B7-6E7D9D2529E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9B7A7F65-1FCC-940A-21C6-9117D20146C3}"/>
                </a:ext>
              </a:extLst>
            </p:cNvPr>
            <p:cNvPicPr>
              <a:picLocks/>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316D7A2-FB5E-D82F-07AE-BB3D88B3995F}"/>
                </a:ext>
              </a:extLst>
            </p:cNvPr>
            <p:cNvPicPr>
              <a:picLocks/>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54C8D9B-4579-43CD-8666-109CE37E3460}"/>
                </a:ext>
              </a:extLst>
            </p:cNvPr>
            <p:cNvPicPr>
              <a:picLocks/>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CD242D3-60D6-6E14-41D3-FEC4B40596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9" name="TextBox 14">
            <a:extLst>
              <a:ext uri="{FF2B5EF4-FFF2-40B4-BE49-F238E27FC236}">
                <a16:creationId xmlns:a16="http://schemas.microsoft.com/office/drawing/2014/main" id="{80363729-44B0-3D55-9C19-31D816084DAD}"/>
              </a:ext>
            </a:extLst>
          </p:cNvPr>
          <p:cNvSpPr txBox="1"/>
          <p:nvPr/>
        </p:nvSpPr>
        <p:spPr>
          <a:xfrm>
            <a:off x="2895600" y="256264"/>
            <a:ext cx="4495800" cy="461665"/>
          </a:xfrm>
          <a:prstGeom prst="rect">
            <a:avLst/>
          </a:prstGeom>
          <a:noFill/>
        </p:spPr>
        <p:txBody>
          <a:bodyPr wrap="none">
            <a:spAutoFit/>
          </a:bodyPr>
          <a:lstStyle/>
          <a:p>
            <a:pPr algn="ctr"/>
            <a:r>
              <a:rPr lang="en-IN" sz="2400" b="1" dirty="0">
                <a:solidFill>
                  <a:schemeClr val="bg1"/>
                </a:solidFill>
                <a:latin typeface="Times New Roman" panose="02020603050405020304" pitchFamily="18" charset="0"/>
                <a:cs typeface="Times New Roman" panose="02020603050405020304" pitchFamily="18" charset="0"/>
              </a:rPr>
              <a:t>Thank You</a:t>
            </a:r>
          </a:p>
        </p:txBody>
      </p:sp>
      <p:pic>
        <p:nvPicPr>
          <p:cNvPr id="10" name="object 3">
            <a:extLst>
              <a:ext uri="{FF2B5EF4-FFF2-40B4-BE49-F238E27FC236}">
                <a16:creationId xmlns:a16="http://schemas.microsoft.com/office/drawing/2014/main" id="{11D665D9-9F5D-6CB1-6891-43581DD76E83}"/>
              </a:ext>
            </a:extLst>
          </p:cNvPr>
          <p:cNvPicPr>
            <a:picLocks/>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548640" y="2377440"/>
            <a:ext cx="8961120" cy="1097280"/>
          </a:xfrm>
          <a:prstGeom prst="rect">
            <a:avLst/>
          </a:prstGeom>
          <a:noFill/>
        </p:spPr>
        <p:txBody>
          <a:bodyPr wrap="square" anchor="t" lIns="45720" rIns="45720">
            <a:spAutoFit/>
          </a:bodyPr>
          <a:lstStyle/>
          <a:p>
            <a:pPr algn="ctr">
              <a:spcAft>
                <a:spcPts val="400"/>
              </a:spcAft>
            </a:pPr>
            <a:r>
              <a:rPr sz="6000" b="1" i="0">
                <a:solidFill>
                  <a:srgbClr val="1B3F8B"/>
                </a:solidFill>
                <a:latin typeface="Times New Roman"/>
              </a:rPr>
              <a:t>Thank You!</a:t>
            </a:r>
          </a:p>
        </p:txBody>
      </p:sp>
      <p:sp>
        <p:nvSpPr>
          <p:cNvPr id="12" name="TextBox 11"/>
          <p:cNvSpPr txBox="1"/>
          <p:nvPr/>
        </p:nvSpPr>
        <p:spPr>
          <a:xfrm>
            <a:off x="548640" y="3566160"/>
            <a:ext cx="8961120" cy="548640"/>
          </a:xfrm>
          <a:prstGeom prst="rect">
            <a:avLst/>
          </a:prstGeom>
          <a:noFill/>
        </p:spPr>
        <p:txBody>
          <a:bodyPr wrap="square" anchor="t" lIns="45720" rIns="45720">
            <a:spAutoFit/>
          </a:bodyPr>
          <a:lstStyle/>
          <a:p>
            <a:pPr algn="ctr">
              <a:spcAft>
                <a:spcPts val="400"/>
              </a:spcAft>
            </a:pPr>
            <a:r>
              <a:rPr sz="2600" b="0" i="1">
                <a:solidFill>
                  <a:srgbClr val="FF6600"/>
                </a:solidFill>
                <a:latin typeface="Times New Roman"/>
              </a:rPr>
              <a:t>Questions?</a:t>
            </a:r>
          </a:p>
        </p:txBody>
      </p:sp>
      <p:sp>
        <p:nvSpPr>
          <p:cNvPr id="13" name="TextBox 12"/>
          <p:cNvSpPr txBox="1"/>
          <p:nvPr/>
        </p:nvSpPr>
        <p:spPr>
          <a:xfrm>
            <a:off x="548640" y="4754880"/>
            <a:ext cx="8961120" cy="822960"/>
          </a:xfrm>
          <a:prstGeom prst="rect">
            <a:avLst/>
          </a:prstGeom>
          <a:noFill/>
        </p:spPr>
        <p:txBody>
          <a:bodyPr wrap="square" anchor="t" lIns="45720" rIns="45720">
            <a:spAutoFit/>
          </a:bodyPr>
          <a:lstStyle/>
          <a:p>
            <a:pPr algn="ctr">
              <a:spcAft>
                <a:spcPts val="400"/>
              </a:spcAft>
            </a:pPr>
            <a:r>
              <a:rPr sz="1600" b="0" i="0">
                <a:solidFill>
                  <a:srgbClr val="555555"/>
                </a:solidFill>
                <a:latin typeface="Times New Roman"/>
              </a:rPr>
              <a:t>Campus Food Pre-Order System</a:t>
            </a:r>
          </a:p>
          <a:p>
            <a:pPr algn="ctr">
              <a:spcAft>
                <a:spcPts val="400"/>
              </a:spcAft>
            </a:pPr>
            <a:r>
              <a:rPr sz="1600" b="0" i="0">
                <a:solidFill>
                  <a:srgbClr val="555555"/>
                </a:solidFill>
                <a:latin typeface="Times New Roman"/>
              </a:rPr>
              <a:t>API &amp; Microservices · Aditya University, Surampalem</a:t>
            </a:r>
          </a:p>
        </p:txBody>
      </p:sp>
    </p:spTree>
    <p:extLst>
      <p:ext uri="{BB962C8B-B14F-4D97-AF65-F5344CB8AC3E}">
        <p14:creationId xmlns:p14="http://schemas.microsoft.com/office/powerpoint/2010/main" val="4190210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1</Words>
  <Application>Microsoft Office PowerPoint</Application>
  <PresentationFormat>Custom</PresentationFormat>
  <Paragraphs>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Palatino Linotype</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vardhan sai Gadde</cp:lastModifiedBy>
  <cp:revision>4</cp:revision>
  <dcterms:created xsi:type="dcterms:W3CDTF">2025-10-09T21:28:06Z</dcterms:created>
  <dcterms:modified xsi:type="dcterms:W3CDTF">2026-10-06T04:30:29Z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y fmtid="{D5CDD505-2E9C-101B-9397-08002B2CF9AE}" pid="4" name="ICV">
    <vt:lpwstr>36c40903366b44e99e67453f077e2ca1_23</vt:lpwstr>
  </property>
</Properties>
</file>